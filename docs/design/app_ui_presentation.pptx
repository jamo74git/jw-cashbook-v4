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167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869680" y="1234440"/>
            <a:ext cx="2011680" cy="4114800"/>
          </a:xfrm>
          <a:prstGeom prst="roundRect">
            <a:avLst>
              <a:gd name="adj" fmla="val 8182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9015984" y="1572768"/>
            <a:ext cx="1719072" cy="3200400"/>
          </a:xfrm>
          <a:prstGeom prst="roundRect">
            <a:avLst>
              <a:gd name="adj" fmla="val 5319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9162288" y="1792224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9162288" y="2359152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9162288" y="2926080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9162288" y="3493008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9162288" y="489204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9162288" y="48874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452360" y="4160520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571232" y="4480560"/>
            <a:ext cx="1636776" cy="731520"/>
          </a:xfrm>
          <a:prstGeom prst="roundRect">
            <a:avLst>
              <a:gd name="adj" fmla="val 75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7571232" y="546811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571232" y="546354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DESIGN PROPOSAL</a:t>
            </a:r>
            <a:endParaRPr lang="en-US" sz="1300" dirty="0"/>
          </a:p>
        </p:txBody>
      </p:sp>
      <p:sp>
        <p:nvSpPr>
          <p:cNvPr id="17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Church Financial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41248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Module-by-module screen designs for a governance, capture, audit and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platform — scaling from a single congregation to national Head Office.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507492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841248" y="507492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75688" y="5074920"/>
            <a:ext cx="1297534" cy="365760"/>
          </a:xfrm>
          <a:prstGeom prst="roundRect">
            <a:avLst>
              <a:gd name="adj" fmla="val 50000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075688" y="5074920"/>
            <a:ext cx="12975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37814" y="5074920"/>
            <a:ext cx="2587752" cy="365760"/>
          </a:xfrm>
          <a:prstGeom prst="roundRect">
            <a:avLst>
              <a:gd name="adj" fmla="val 50000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537814" y="507492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capture → audit → close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90158" y="5074920"/>
            <a:ext cx="1677010" cy="365760"/>
          </a:xfrm>
          <a:prstGeom prst="roundRect">
            <a:avLst>
              <a:gd name="adj" fmla="val 50000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290158" y="5074920"/>
            <a:ext cx="1677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&amp; Gold system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" y="64190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church financial governance  ·  Draft design v1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APPROACH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Principles, palette &amp; the interface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234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45720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713232" y="1719072"/>
            <a:ext cx="384048" cy="384048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713232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43584" y="1682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 capture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43584" y="1956816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Treasurers, auditors and chairpersons work from phones — short forms, big touch targets, camera-based proof.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688336"/>
            <a:ext cx="45720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713232" y="2871216"/>
            <a:ext cx="384048" cy="384048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13232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43584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device per role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43584" y="3108960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Elders, overseers and Head Office get richer desktop dashboards for oversight, imports and administration.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840480"/>
            <a:ext cx="45720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13232" y="4023360"/>
            <a:ext cx="384048" cy="384048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13232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43584" y="3986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by design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43584" y="4261104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reflects the workflow: capture → reconcile → audit → close, with clear statuses and audit trails.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992624"/>
            <a:ext cx="45720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713232" y="5175504"/>
            <a:ext cx="384048" cy="384048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13232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43584" y="5138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before audit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43584" y="5413248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9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states (Balanced / Variance) are first-class UI, never hidden in a report.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1234440"/>
            <a:ext cx="61840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COLOUR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1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5440680" y="20848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700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40680" y="22402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brand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023278" y="15361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2F559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023278" y="20848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500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23278" y="22402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8605876" y="15361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8605876" y="20848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605876" y="22402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/ emphasis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10188473" y="15361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10188473" y="20848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88473" y="22402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440680" y="24505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440680" y="29992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40680" y="31546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7023278" y="24505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7023278" y="29992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23278" y="31546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8605876" y="24505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8605876" y="29992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05876" y="31546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await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10188473" y="2450592"/>
            <a:ext cx="1436294" cy="512064"/>
          </a:xfrm>
          <a:prstGeom prst="roundRect">
            <a:avLst>
              <a:gd name="adj" fmla="val 10714"/>
            </a:avLst>
          </a:prstGeom>
          <a:solidFill>
            <a:srgbClr val="F5F7FB"/>
          </a:solidFill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10188473" y="2999232"/>
            <a:ext cx="1436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0188473" y="3154680"/>
            <a:ext cx="14362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/ bg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5440680" y="3566160"/>
            <a:ext cx="61840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 &amp; COMPONENTS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40680" y="3858768"/>
            <a:ext cx="6184087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5623560" y="39684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Trebuchet MS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623560" y="4370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&amp; UI labels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715604" y="39867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715604" y="4370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forms &amp; data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532724" y="3968496"/>
            <a:ext cx="0" cy="749808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Shape 58"/>
          <p:cNvSpPr/>
          <p:nvPr/>
        </p:nvSpPr>
        <p:spPr>
          <a:xfrm>
            <a:off x="5440680" y="4937760"/>
            <a:ext cx="6184087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5623560" y="5047488"/>
            <a:ext cx="58183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ACTION VOCABULARY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23560" y="5321808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5623560" y="53172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556248" y="5321808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6556248" y="53172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R50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763256" y="5321808"/>
            <a:ext cx="1216152" cy="274320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7763256" y="531723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Audit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107424" y="5321808"/>
            <a:ext cx="1216152" cy="27432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Text 67"/>
          <p:cNvSpPr/>
          <p:nvPr/>
        </p:nvSpPr>
        <p:spPr>
          <a:xfrm>
            <a:off x="9107424" y="531723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Approved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451592" y="5321808"/>
            <a:ext cx="1010412" cy="274320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10451592" y="5317236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Soft-Locked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623560" y="5705856"/>
            <a:ext cx="598932" cy="274320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5623560" y="5701284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623560" y="57972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Text 73"/>
          <p:cNvSpPr/>
          <p:nvPr/>
        </p:nvSpPr>
        <p:spPr>
          <a:xfrm>
            <a:off x="5623560" y="5797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123176" y="57972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7123176" y="5797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622792" y="57972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8622792" y="5797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622792" y="5797296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2700">
            <a:solidFill>
              <a:srgbClr val="D0453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1" name="Text 79"/>
          <p:cNvSpPr/>
          <p:nvPr/>
        </p:nvSpPr>
        <p:spPr>
          <a:xfrm>
            <a:off x="8622792" y="5797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 hierarchy, roles &amp; their devices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280160"/>
            <a:ext cx="4206240" cy="4937760"/>
          </a:xfrm>
          <a:prstGeom prst="roundRect">
            <a:avLst>
              <a:gd name="adj" fmla="val 2609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ORGANISATIONAL HIERARCHY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187452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987552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2585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87552" y="2409444"/>
            <a:ext cx="3511296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133856" y="2409444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Apostolate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7934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33856" y="2944368"/>
            <a:ext cx="3364992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280160" y="2944368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80160" y="3479292"/>
            <a:ext cx="3218688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1426464" y="347929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Apostleship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8633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26464" y="4014216"/>
            <a:ext cx="3072384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1572768" y="40142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Overseership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3982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72768" y="45491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1719072" y="45491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9331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19072" y="5084064"/>
            <a:ext cx="2779776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1865376" y="508406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Congregation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54681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65376" y="5618988"/>
            <a:ext cx="2633472" cy="4572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2011680" y="561898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1B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Priestship → Members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1280160"/>
            <a:ext cx="6595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 →  PRIMARY DEVICE  →  CORE MODULES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1591056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5029200" y="1591056"/>
            <a:ext cx="54864" cy="56692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5212080" y="15910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Treasurer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1755648"/>
            <a:ext cx="544982" cy="237744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812280" y="1751076"/>
            <a:ext cx="544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8732520" y="1591056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Capture · Banking · Expenses · Chat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029200" y="2256739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5029200" y="2256739"/>
            <a:ext cx="54864" cy="56692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5212080" y="2256739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2421331"/>
            <a:ext cx="544982" cy="237744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812280" y="2416759"/>
            <a:ext cx="544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8732520" y="2256739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Audit Review · Chat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5029200" y="2922422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4"/>
          <p:cNvSpPr/>
          <p:nvPr/>
        </p:nvSpPr>
        <p:spPr>
          <a:xfrm>
            <a:off x="5029200" y="2922422"/>
            <a:ext cx="54864" cy="56692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212080" y="292242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Chairperson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12280" y="3087014"/>
            <a:ext cx="544982" cy="237744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812280" y="3082442"/>
            <a:ext cx="544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8732520" y="2922422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Treasurer &amp; Auditor · exception review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5029200" y="3588106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50"/>
          <p:cNvSpPr/>
          <p:nvPr/>
        </p:nvSpPr>
        <p:spPr>
          <a:xfrm>
            <a:off x="5029200" y="3588106"/>
            <a:ext cx="54864" cy="566928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5212080" y="358810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Secretary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12280" y="3752698"/>
            <a:ext cx="544982" cy="237744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6812280" y="3748126"/>
            <a:ext cx="544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8732520" y="3588106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financial reports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5029200" y="4253789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5029200" y="4253789"/>
            <a:ext cx="54864" cy="56692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5212080" y="4253789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812280" y="4418381"/>
            <a:ext cx="1148486" cy="237744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6812280" y="4413809"/>
            <a:ext cx="11484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Desktop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8732520" y="4253789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· Monthly Close · Reporting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5029200" y="4919472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5029200" y="4919472"/>
            <a:ext cx="54864" cy="566928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5212080" y="49194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12280" y="5084064"/>
            <a:ext cx="605333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6812280" y="5079492"/>
            <a:ext cx="6053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8732520" y="4919472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Multi-eldership dashboards &amp; analytics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5029200" y="5585155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5029200" y="5585155"/>
            <a:ext cx="54864" cy="566928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5212080" y="5585155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Apostle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812280" y="5749747"/>
            <a:ext cx="605333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6812280" y="5745175"/>
            <a:ext cx="6053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8732520" y="5585155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Apostleship-level oversight &amp; analytics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5029200" y="6250838"/>
            <a:ext cx="6595567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6" name="Shape 74"/>
          <p:cNvSpPr/>
          <p:nvPr/>
        </p:nvSpPr>
        <p:spPr>
          <a:xfrm>
            <a:off x="5029200" y="6250838"/>
            <a:ext cx="54864" cy="566928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5212080" y="625083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812280" y="6415430"/>
            <a:ext cx="605333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6812280" y="6410858"/>
            <a:ext cx="6053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8732520" y="6250838"/>
            <a:ext cx="275508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· Corrections · Reporting · Admin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12 modules at a glance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566928" y="1371600"/>
            <a:ext cx="2572436" cy="91440"/>
          </a:xfrm>
          <a:prstGeom prst="round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731520" y="1627632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1609344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Dashboard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98448" y="1975104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landing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31520" y="2231136"/>
            <a:ext cx="1089965" cy="219456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31520" y="2226564"/>
            <a:ext cx="10899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Desktop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95396" y="1371600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395396" y="1371600"/>
            <a:ext cx="2572436" cy="91440"/>
          </a:xfrm>
          <a:prstGeom prst="round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559988" y="1627632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5599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26916" y="1609344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Capture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26916" y="1975104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AM/PM tithing entry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559988" y="2231136"/>
            <a:ext cx="523037" cy="219456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3559988" y="2226564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223864" y="1371600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6223864" y="1371600"/>
            <a:ext cx="2572436" cy="91440"/>
          </a:xfrm>
          <a:prstGeom prst="round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388456" y="1627632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388456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55384" y="1609344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&amp; Proofs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55384" y="1975104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 · debit · cash proof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388456" y="2231136"/>
            <a:ext cx="523037" cy="219456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388456" y="2226564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052331" y="1371600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9052331" y="1371600"/>
            <a:ext cx="2572436" cy="91440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9216923" y="1627632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9216923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83851" y="1609344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783851" y="1975104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· capture · approve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9216923" y="2231136"/>
            <a:ext cx="1089965" cy="219456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9216923" y="2226564"/>
            <a:ext cx="10899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Desktop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6928" y="2779776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566928" y="2779776"/>
            <a:ext cx="2572436" cy="91440"/>
          </a:xfrm>
          <a:prstGeom prst="round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7315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98448" y="3017520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Reconciliation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298448" y="3383280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before audit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731520" y="3639312"/>
            <a:ext cx="523037" cy="219456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731520" y="3634740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395396" y="2779776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3395396" y="2779776"/>
            <a:ext cx="2572436" cy="91440"/>
          </a:xfrm>
          <a:prstGeom prst="round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3559988" y="3035808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3559988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126916" y="3017520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Review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126916" y="3383280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workspace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3559988" y="3639312"/>
            <a:ext cx="523037" cy="219456"/>
          </a:xfrm>
          <a:prstGeom prst="roundRect">
            <a:avLst>
              <a:gd name="adj" fmla="val 50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3559988" y="3634740"/>
            <a:ext cx="5230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23864" y="2779776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6" name="Shape 54"/>
          <p:cNvSpPr/>
          <p:nvPr/>
        </p:nvSpPr>
        <p:spPr>
          <a:xfrm>
            <a:off x="6223864" y="2779776"/>
            <a:ext cx="2572436" cy="91440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Shape 55"/>
          <p:cNvSpPr/>
          <p:nvPr/>
        </p:nvSpPr>
        <p:spPr>
          <a:xfrm>
            <a:off x="6388456" y="3035808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6388456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955384" y="3017520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Close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955384" y="3383280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month-end &amp; submit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6388456" y="3639312"/>
            <a:ext cx="579730" cy="219456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6388456" y="3634740"/>
            <a:ext cx="579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052331" y="2779776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9052331" y="2779776"/>
            <a:ext cx="2572436" cy="91440"/>
          </a:xfrm>
          <a:prstGeom prst="round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Shape 63"/>
          <p:cNvSpPr/>
          <p:nvPr/>
        </p:nvSpPr>
        <p:spPr>
          <a:xfrm>
            <a:off x="9216923" y="3035808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9216923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783851" y="3017520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783851" y="3383280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&amp; resubmit</a:t>
            </a:r>
            <a:endParaRPr lang="en-US" sz="820" dirty="0"/>
          </a:p>
        </p:txBody>
      </p:sp>
      <p:sp>
        <p:nvSpPr>
          <p:cNvPr id="69" name="Shape 67"/>
          <p:cNvSpPr/>
          <p:nvPr/>
        </p:nvSpPr>
        <p:spPr>
          <a:xfrm>
            <a:off x="9216923" y="3639312"/>
            <a:ext cx="579730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9216923" y="3634740"/>
            <a:ext cx="579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66928" y="4187952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2" name="Shape 70"/>
          <p:cNvSpPr/>
          <p:nvPr/>
        </p:nvSpPr>
        <p:spPr>
          <a:xfrm>
            <a:off x="566928" y="4187952"/>
            <a:ext cx="2572436" cy="91440"/>
          </a:xfrm>
          <a:prstGeom prst="round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Shape 71"/>
          <p:cNvSpPr/>
          <p:nvPr/>
        </p:nvSpPr>
        <p:spPr>
          <a:xfrm>
            <a:off x="731520" y="4443984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Text 72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1298448" y="4425696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Messaging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1298448" y="4791456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&amp; internal chat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731520" y="5047488"/>
            <a:ext cx="1089965" cy="219456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731520" y="5042916"/>
            <a:ext cx="10899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Desktop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395396" y="4187952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0" name="Shape 78"/>
          <p:cNvSpPr/>
          <p:nvPr/>
        </p:nvSpPr>
        <p:spPr>
          <a:xfrm>
            <a:off x="3395396" y="4187952"/>
            <a:ext cx="2572436" cy="91440"/>
          </a:xfrm>
          <a:prstGeom prst="round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3559988" y="4443984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Text 80"/>
          <p:cNvSpPr/>
          <p:nvPr/>
        </p:nvSpPr>
        <p:spPr>
          <a:xfrm>
            <a:off x="3559988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4126916" y="4425696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Analytics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4126916" y="4791456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dashboards</a:t>
            </a:r>
            <a:endParaRPr lang="en-US" sz="820" dirty="0"/>
          </a:p>
        </p:txBody>
      </p:sp>
      <p:sp>
        <p:nvSpPr>
          <p:cNvPr id="85" name="Shape 83"/>
          <p:cNvSpPr/>
          <p:nvPr/>
        </p:nvSpPr>
        <p:spPr>
          <a:xfrm>
            <a:off x="3559988" y="5047488"/>
            <a:ext cx="579730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3559988" y="5042916"/>
            <a:ext cx="579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223864" y="4187952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8" name="Shape 86"/>
          <p:cNvSpPr/>
          <p:nvPr/>
        </p:nvSpPr>
        <p:spPr>
          <a:xfrm>
            <a:off x="6223864" y="4187952"/>
            <a:ext cx="2572436" cy="91440"/>
          </a:xfrm>
          <a:prstGeom prst="round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Shape 87"/>
          <p:cNvSpPr/>
          <p:nvPr/>
        </p:nvSpPr>
        <p:spPr>
          <a:xfrm>
            <a:off x="6388456" y="4443984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Text 88"/>
          <p:cNvSpPr/>
          <p:nvPr/>
        </p:nvSpPr>
        <p:spPr>
          <a:xfrm>
            <a:off x="6388456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955384" y="4425696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Imports &amp; Master Data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6955384" y="4791456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&amp; validate</a:t>
            </a:r>
            <a:endParaRPr lang="en-US" sz="820" dirty="0"/>
          </a:p>
        </p:txBody>
      </p:sp>
      <p:sp>
        <p:nvSpPr>
          <p:cNvPr id="93" name="Shape 91"/>
          <p:cNvSpPr/>
          <p:nvPr/>
        </p:nvSpPr>
        <p:spPr>
          <a:xfrm>
            <a:off x="6388456" y="5047488"/>
            <a:ext cx="579730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6388456" y="5042916"/>
            <a:ext cx="579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9052331" y="4187952"/>
            <a:ext cx="257243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5400000" algn="bl" rotWithShape="0">
              <a:srgbClr val="0E1B34">
                <a:alpha val="9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6" name="Shape 94"/>
          <p:cNvSpPr/>
          <p:nvPr/>
        </p:nvSpPr>
        <p:spPr>
          <a:xfrm>
            <a:off x="9052331" y="4187952"/>
            <a:ext cx="2572436" cy="91440"/>
          </a:xfrm>
          <a:prstGeom prst="round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7" name="Shape 95"/>
          <p:cNvSpPr/>
          <p:nvPr/>
        </p:nvSpPr>
        <p:spPr>
          <a:xfrm>
            <a:off x="9216923" y="4443984"/>
            <a:ext cx="457200" cy="457200"/>
          </a:xfrm>
          <a:prstGeom prst="ellipse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9216923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9783851" y="4425696"/>
            <a:ext cx="1749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Administration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9783851" y="4791456"/>
            <a:ext cx="17494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logs · export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9216923" y="5047488"/>
            <a:ext cx="579730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2" name="Text 100"/>
          <p:cNvSpPr/>
          <p:nvPr/>
        </p:nvSpPr>
        <p:spPr>
          <a:xfrm>
            <a:off x="9216923" y="5042916"/>
            <a:ext cx="579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 · HOME DASHBOARD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landing — mobile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lands here after login. The dashboard adapts to the signed-in role, surfacing only the actions and figures that role owns.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Treasurer 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status, banking outstanding, audit comments.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audit, rejected weeks, variances.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 / HO 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KPIs (shown on the desktop slide).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97764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06908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78231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17880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71500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81558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91616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06908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406908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4221785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406908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62777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47507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03377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88106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43976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528706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84575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69305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406908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421538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morning, T.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1538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Congregation · Treasurer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64184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64184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215384" y="2432304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· WEEK 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15384" y="2651760"/>
            <a:ext cx="8412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4306824" y="27249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Capture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306824" y="2944368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4306824" y="29397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111496" y="2651760"/>
            <a:ext cx="84124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5202936" y="27249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Capture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5202936" y="2944368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5202936" y="29397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4215384" y="33649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4215384" y="3364992"/>
            <a:ext cx="45720" cy="40233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4343400" y="33649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proof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76088" y="3465576"/>
            <a:ext cx="676656" cy="201168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5276088" y="346100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outstanding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215384" y="385876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Shape 61"/>
          <p:cNvSpPr/>
          <p:nvPr/>
        </p:nvSpPr>
        <p:spPr>
          <a:xfrm>
            <a:off x="4215384" y="3858768"/>
            <a:ext cx="45720" cy="402336"/>
          </a:xfrm>
          <a:prstGeom prst="rect">
            <a:avLst/>
          </a:prstGeom>
          <a:solidFill>
            <a:srgbClr val="2F559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4343400" y="385876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comments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532120" y="3959352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5532120" y="39547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215384" y="438912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4215384" y="43891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week for audit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97764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397764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97764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 Treasurer Dashboard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397764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working home — capture progress and the single next action.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690372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4" name="Shape 72"/>
          <p:cNvSpPr/>
          <p:nvPr/>
        </p:nvSpPr>
        <p:spPr>
          <a:xfrm>
            <a:off x="699516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770839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710488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864108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Shape 76"/>
          <p:cNvSpPr/>
          <p:nvPr/>
        </p:nvSpPr>
        <p:spPr>
          <a:xfrm>
            <a:off x="874166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Shape 77"/>
          <p:cNvSpPr/>
          <p:nvPr/>
        </p:nvSpPr>
        <p:spPr>
          <a:xfrm>
            <a:off x="88422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Shape 78"/>
          <p:cNvSpPr/>
          <p:nvPr/>
        </p:nvSpPr>
        <p:spPr>
          <a:xfrm>
            <a:off x="699516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699516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714786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699516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755385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5" name="Text 83"/>
          <p:cNvSpPr/>
          <p:nvPr/>
        </p:nvSpPr>
        <p:spPr>
          <a:xfrm>
            <a:off x="740115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795985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780714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8365846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Text 87"/>
          <p:cNvSpPr/>
          <p:nvPr/>
        </p:nvSpPr>
        <p:spPr>
          <a:xfrm>
            <a:off x="821314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877183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861913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995160" y="1664208"/>
            <a:ext cx="2029968" cy="658368"/>
          </a:xfrm>
          <a:prstGeom prst="rect">
            <a:avLst/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3" name="Text 91"/>
          <p:cNvSpPr/>
          <p:nvPr/>
        </p:nvSpPr>
        <p:spPr>
          <a:xfrm>
            <a:off x="714146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queue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714146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Dlamini · Auditor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56792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6" name="Text 94"/>
          <p:cNvSpPr/>
          <p:nvPr/>
        </p:nvSpPr>
        <p:spPr>
          <a:xfrm>
            <a:off x="856792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141464" y="2432304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7232904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08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99" name="Text 97"/>
          <p:cNvSpPr/>
          <p:nvPr/>
        </p:nvSpPr>
        <p:spPr>
          <a:xfrm>
            <a:off x="7232904" y="27797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audit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8046720" y="2432304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8138160" y="24688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04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2" name="Text 100"/>
          <p:cNvSpPr/>
          <p:nvPr/>
        </p:nvSpPr>
        <p:spPr>
          <a:xfrm>
            <a:off x="8138160" y="27797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weeks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7141464" y="3072384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7232904" y="3108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48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7232904" y="34198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8046720" y="3072384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7" name="Text 105"/>
          <p:cNvSpPr/>
          <p:nvPr/>
        </p:nvSpPr>
        <p:spPr>
          <a:xfrm>
            <a:off x="8138160" y="31089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D04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8" name="Text 106"/>
          <p:cNvSpPr/>
          <p:nvPr/>
        </p:nvSpPr>
        <p:spPr>
          <a:xfrm>
            <a:off x="8138160" y="34198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7141464" y="38039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QUEUE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141464" y="400507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1" name="Text 109"/>
          <p:cNvSpPr/>
          <p:nvPr/>
        </p:nvSpPr>
        <p:spPr>
          <a:xfrm>
            <a:off x="7269480" y="40507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Grace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269480" y="4224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+ PM captured</a:t>
            </a:r>
            <a:endParaRPr lang="en-US" sz="680" dirty="0"/>
          </a:p>
        </p:txBody>
      </p:sp>
      <p:sp>
        <p:nvSpPr>
          <p:cNvPr id="113" name="Shape 111"/>
          <p:cNvSpPr/>
          <p:nvPr/>
        </p:nvSpPr>
        <p:spPr>
          <a:xfrm>
            <a:off x="8238744" y="4096512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4" name="Text 112"/>
          <p:cNvSpPr/>
          <p:nvPr/>
        </p:nvSpPr>
        <p:spPr>
          <a:xfrm>
            <a:off x="8238744" y="40919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680" dirty="0"/>
          </a:p>
        </p:txBody>
      </p:sp>
      <p:sp>
        <p:nvSpPr>
          <p:cNvPr id="115" name="Shape 113"/>
          <p:cNvSpPr/>
          <p:nvPr/>
        </p:nvSpPr>
        <p:spPr>
          <a:xfrm>
            <a:off x="7141464" y="4462272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6" name="Text 114"/>
          <p:cNvSpPr/>
          <p:nvPr/>
        </p:nvSpPr>
        <p:spPr>
          <a:xfrm>
            <a:off x="7269480" y="45079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Bethel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269480" y="46817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+ PM captured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8238744" y="4553712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9" name="Text 117"/>
          <p:cNvSpPr/>
          <p:nvPr/>
        </p:nvSpPr>
        <p:spPr>
          <a:xfrm>
            <a:off x="8238744" y="45491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690372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1" name="Text 119"/>
          <p:cNvSpPr/>
          <p:nvPr/>
        </p:nvSpPr>
        <p:spPr>
          <a:xfrm>
            <a:off x="690372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690372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 Auditor Dashboard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690372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Queue-first layout so auditors act on pending weeks immediately.</a:t>
            </a:r>
            <a:endParaRPr lang="en-US" sz="780" dirty="0"/>
          </a:p>
        </p:txBody>
      </p:sp>
      <p:sp>
        <p:nvSpPr>
          <p:cNvPr id="124" name="Shape 122"/>
          <p:cNvSpPr/>
          <p:nvPr/>
        </p:nvSpPr>
        <p:spPr>
          <a:xfrm>
            <a:off x="9829800" y="1691640"/>
            <a:ext cx="1828800" cy="3108960"/>
          </a:xfrm>
          <a:prstGeom prst="roundRect">
            <a:avLst>
              <a:gd name="adj" fmla="val 6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5" name="Text 123"/>
          <p:cNvSpPr/>
          <p:nvPr/>
        </p:nvSpPr>
        <p:spPr>
          <a:xfrm>
            <a:off x="10012680" y="1920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ROLE-BASED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10012680" y="225856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7" name="Text 125"/>
          <p:cNvSpPr/>
          <p:nvPr/>
        </p:nvSpPr>
        <p:spPr>
          <a:xfrm>
            <a:off x="10186416" y="2176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login, different home.</a:t>
            </a:r>
            <a:endParaRPr lang="en-US" sz="880" dirty="0"/>
          </a:p>
        </p:txBody>
      </p:sp>
      <p:sp>
        <p:nvSpPr>
          <p:cNvPr id="128" name="Shape 126"/>
          <p:cNvSpPr/>
          <p:nvPr/>
        </p:nvSpPr>
        <p:spPr>
          <a:xfrm>
            <a:off x="10012680" y="28620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9" name="Text 127"/>
          <p:cNvSpPr/>
          <p:nvPr/>
        </p:nvSpPr>
        <p:spPr>
          <a:xfrm>
            <a:off x="10186416" y="27797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clutter — only the figures a role owns.</a:t>
            </a:r>
            <a:endParaRPr lang="en-US" sz="880" dirty="0"/>
          </a:p>
        </p:txBody>
      </p:sp>
      <p:sp>
        <p:nvSpPr>
          <p:cNvPr id="130" name="Shape 128"/>
          <p:cNvSpPr/>
          <p:nvPr/>
        </p:nvSpPr>
        <p:spPr>
          <a:xfrm>
            <a:off x="10012680" y="34655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1" name="Text 129"/>
          <p:cNvSpPr/>
          <p:nvPr/>
        </p:nvSpPr>
        <p:spPr>
          <a:xfrm>
            <a:off x="10186416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primary action per screen.</a:t>
            </a:r>
            <a:endParaRPr lang="en-US" sz="880" dirty="0"/>
          </a:p>
        </p:txBody>
      </p:sp>
      <p:sp>
        <p:nvSpPr>
          <p:cNvPr id="132" name="Shape 130"/>
          <p:cNvSpPr/>
          <p:nvPr/>
        </p:nvSpPr>
        <p:spPr>
          <a:xfrm>
            <a:off x="10012680" y="406908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3" name="Text 131"/>
          <p:cNvSpPr/>
          <p:nvPr/>
        </p:nvSpPr>
        <p:spPr>
          <a:xfrm>
            <a:off x="10186416" y="3986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88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 drive the layout.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 · HOME DASHBOARD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landing — desktop oversight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Elders, Overseers and Head Office land on richer desktop dashboards built for scanning many congregations, spotting exceptions and drilling down.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 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Congregations under care, approvals, monthly progress.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overview, submissions, imports, system health.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app.church.finance/dashboard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3666744" y="1636776"/>
            <a:ext cx="1417320" cy="4160520"/>
          </a:xfrm>
          <a:prstGeom prst="rect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849624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66744" y="2203704"/>
            <a:ext cx="1417320" cy="365760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3666744" y="2203704"/>
            <a:ext cx="45720" cy="3657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86200" y="22037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86200" y="2587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8620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86200" y="33558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86200" y="37398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86200" y="4123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9624" y="5431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· National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3035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National Overview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0352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month: July 2026 · Week 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277856" y="18379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10277856" y="18333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▾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0" y="2423160"/>
            <a:ext cx="13990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635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5303520" y="2423160"/>
            <a:ext cx="1399032" cy="6400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5431536" y="2551176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1,284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5431536" y="29352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31536" y="3081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48856" y="2423160"/>
            <a:ext cx="13990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635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6848856" y="2423160"/>
            <a:ext cx="1399032" cy="6400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976872" y="2551176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9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6976872" y="29352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76872" y="3081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captured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394192" y="2423160"/>
            <a:ext cx="13990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635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8394192" y="2423160"/>
            <a:ext cx="1399032" cy="64008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8522208" y="2551176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8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142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8522208" y="29352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522208" y="3081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939528" y="2423160"/>
            <a:ext cx="139903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63500" dist="25400" dir="5400000" algn="bl" rotWithShape="0">
              <a:srgbClr val="0E1B34">
                <a:alpha val="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9939528" y="2423160"/>
            <a:ext cx="1399032" cy="64008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10067544" y="2551176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D04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10067544" y="2935224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067544" y="30815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requests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303520" y="3410712"/>
            <a:ext cx="3625413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5468112" y="3520440"/>
            <a:ext cx="3259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Completion by Apostolate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559552" y="4069080"/>
            <a:ext cx="432475" cy="1124712"/>
          </a:xfrm>
          <a:prstGeom prst="roundRect">
            <a:avLst>
              <a:gd name="adj" fmla="val 63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5513832" y="3886200"/>
            <a:ext cx="5422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513832" y="5230368"/>
            <a:ext cx="58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6193195" y="4178808"/>
            <a:ext cx="432475" cy="1014984"/>
          </a:xfrm>
          <a:prstGeom prst="roundRect">
            <a:avLst>
              <a:gd name="adj" fmla="val 63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6147475" y="3995928"/>
            <a:ext cx="5422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147475" y="5230368"/>
            <a:ext cx="58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6826837" y="3959352"/>
            <a:ext cx="432475" cy="1234440"/>
          </a:xfrm>
          <a:prstGeom prst="roundRect">
            <a:avLst>
              <a:gd name="adj" fmla="val 634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6781117" y="3776472"/>
            <a:ext cx="5422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781117" y="5230368"/>
            <a:ext cx="58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7460480" y="4329684"/>
            <a:ext cx="432475" cy="864108"/>
          </a:xfrm>
          <a:prstGeom prst="roundRect">
            <a:avLst>
              <a:gd name="adj" fmla="val 63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Text 72"/>
          <p:cNvSpPr/>
          <p:nvPr/>
        </p:nvSpPr>
        <p:spPr>
          <a:xfrm>
            <a:off x="7414760" y="4146804"/>
            <a:ext cx="5422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414760" y="5230368"/>
            <a:ext cx="58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8094122" y="4233672"/>
            <a:ext cx="432475" cy="960120"/>
          </a:xfrm>
          <a:prstGeom prst="roundRect">
            <a:avLst>
              <a:gd name="adj" fmla="val 63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8048402" y="4050792"/>
            <a:ext cx="5422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048402" y="5230368"/>
            <a:ext cx="58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9093525" y="3410712"/>
            <a:ext cx="2464491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9239829" y="3520440"/>
            <a:ext cx="2190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221541" y="3794760"/>
            <a:ext cx="2208459" cy="384048"/>
          </a:xfrm>
          <a:prstGeom prst="roundRect">
            <a:avLst>
              <a:gd name="adj" fmla="val 1190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9221541" y="3794760"/>
            <a:ext cx="45720" cy="384048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9349557" y="3831336"/>
            <a:ext cx="2098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week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349557" y="3995928"/>
            <a:ext cx="20987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· R50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221541" y="4233672"/>
            <a:ext cx="2208459" cy="384048"/>
          </a:xfrm>
          <a:prstGeom prst="roundRect">
            <a:avLst>
              <a:gd name="adj" fmla="val 1190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Shape 84"/>
          <p:cNvSpPr/>
          <p:nvPr/>
        </p:nvSpPr>
        <p:spPr>
          <a:xfrm>
            <a:off x="9221541" y="4233672"/>
            <a:ext cx="45720" cy="384048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9349557" y="4270248"/>
            <a:ext cx="2098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audit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349557" y="4434840"/>
            <a:ext cx="20987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· 3 days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9221541" y="4672584"/>
            <a:ext cx="2208459" cy="384048"/>
          </a:xfrm>
          <a:prstGeom prst="roundRect">
            <a:avLst>
              <a:gd name="adj" fmla="val 1190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Shape 88"/>
          <p:cNvSpPr/>
          <p:nvPr/>
        </p:nvSpPr>
        <p:spPr>
          <a:xfrm>
            <a:off x="9221541" y="4672584"/>
            <a:ext cx="45720" cy="384048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9349557" y="4709160"/>
            <a:ext cx="2098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349557" y="4873752"/>
            <a:ext cx="20987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W1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221541" y="5111496"/>
            <a:ext cx="2208459" cy="384048"/>
          </a:xfrm>
          <a:prstGeom prst="roundRect">
            <a:avLst>
              <a:gd name="adj" fmla="val 1190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Shape 92"/>
          <p:cNvSpPr/>
          <p:nvPr/>
        </p:nvSpPr>
        <p:spPr>
          <a:xfrm>
            <a:off x="9221541" y="5111496"/>
            <a:ext cx="45720" cy="384048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5" name="Text 93"/>
          <p:cNvSpPr/>
          <p:nvPr/>
        </p:nvSpPr>
        <p:spPr>
          <a:xfrm>
            <a:off x="9349557" y="5148072"/>
            <a:ext cx="2098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349557" y="5312664"/>
            <a:ext cx="209873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· pending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 Head Office / Elder Dashboard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KPI band, drill-down chart and a live exceptions feed for oversight at scale.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02 · WEEKLY CAPTURE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Treasurer's main working area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capture flow. Financial month and week are auto-selected, AM and PM services are captured separately, then reviewed before banking.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Month / Week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control — Week n needs n-1 approved.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 / PM Service Capture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total + officer tithing by code.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Review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AM, PM and officer totals before banking.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0332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41655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81304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34924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44982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55040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70332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70332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5602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70332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2018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10931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66801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51530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07400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92130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47999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32729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70332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84962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Capture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962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financial month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7608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2760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849624" y="2432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Month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3849624" y="2615184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3941064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5312664" y="2615184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9624" y="30175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WEEK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849624" y="3236976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3977640" y="33009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977640" y="3483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· in progress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5276088" y="3236976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49624" y="3785616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3977640" y="384962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977640" y="40325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· needs W1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5276088" y="3785616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849624" y="4334256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3977640" y="4398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977640" y="4581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open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5276088" y="4334256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1188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361188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61188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 Month &amp; Week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61188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 context; sequential week locks are visible up front.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501384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6592824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Shape 69"/>
          <p:cNvSpPr/>
          <p:nvPr/>
        </p:nvSpPr>
        <p:spPr>
          <a:xfrm>
            <a:off x="7306056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2" name="Text 70"/>
          <p:cNvSpPr/>
          <p:nvPr/>
        </p:nvSpPr>
        <p:spPr>
          <a:xfrm>
            <a:off x="6702552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823874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Shape 72"/>
          <p:cNvSpPr/>
          <p:nvPr/>
        </p:nvSpPr>
        <p:spPr>
          <a:xfrm>
            <a:off x="833932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843991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Shape 74"/>
          <p:cNvSpPr/>
          <p:nvPr/>
        </p:nvSpPr>
        <p:spPr>
          <a:xfrm>
            <a:off x="6592824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Shape 75"/>
          <p:cNvSpPr/>
          <p:nvPr/>
        </p:nvSpPr>
        <p:spPr>
          <a:xfrm>
            <a:off x="6592824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8" name="Shape 76"/>
          <p:cNvSpPr/>
          <p:nvPr/>
        </p:nvSpPr>
        <p:spPr>
          <a:xfrm>
            <a:off x="674552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659282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7151522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Text 79"/>
          <p:cNvSpPr/>
          <p:nvPr/>
        </p:nvSpPr>
        <p:spPr>
          <a:xfrm>
            <a:off x="699881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755751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740481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7963510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5" name="Text 83"/>
          <p:cNvSpPr/>
          <p:nvPr/>
        </p:nvSpPr>
        <p:spPr>
          <a:xfrm>
            <a:off x="781080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836950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821679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592824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Text 87"/>
          <p:cNvSpPr/>
          <p:nvPr/>
        </p:nvSpPr>
        <p:spPr>
          <a:xfrm>
            <a:off x="6739128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 Service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6739128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Sunday capture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165592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2" name="Text 90"/>
          <p:cNvSpPr/>
          <p:nvPr/>
        </p:nvSpPr>
        <p:spPr>
          <a:xfrm>
            <a:off x="8165592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739128" y="2432304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6867144" y="2523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TOTAL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6867144" y="26700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1,000.00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6739128" y="31638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TITHING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739128" y="33832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6867144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PR-014 · Priest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7562088" y="33832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220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39128" y="38404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867144" y="3840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UD-032 · Underdeacon</a:t>
            </a:r>
            <a:endParaRPr lang="en-US" sz="780" dirty="0"/>
          </a:p>
        </p:txBody>
      </p:sp>
      <p:sp>
        <p:nvSpPr>
          <p:cNvPr id="102" name="Text 100"/>
          <p:cNvSpPr/>
          <p:nvPr/>
        </p:nvSpPr>
        <p:spPr>
          <a:xfrm>
            <a:off x="7562088" y="38404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150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739128" y="429768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6867144" y="4297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PR-009 · Priest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7562088" y="429768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180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739128" y="475488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DFF3F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7" name="Text 105"/>
          <p:cNvSpPr/>
          <p:nvPr/>
        </p:nvSpPr>
        <p:spPr>
          <a:xfrm>
            <a:off x="6739128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officer line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739128" y="521208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9" name="Text 107"/>
          <p:cNvSpPr/>
          <p:nvPr/>
        </p:nvSpPr>
        <p:spPr>
          <a:xfrm>
            <a:off x="6739128" y="52120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continue to PM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501384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1" name="Text 109"/>
          <p:cNvSpPr/>
          <p:nvPr/>
        </p:nvSpPr>
        <p:spPr>
          <a:xfrm>
            <a:off x="6501384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501384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 AM Service Capture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6501384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form: one member total plus officer tithing by code. PM mirrors this.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9390888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5" name="Shape 113"/>
          <p:cNvSpPr/>
          <p:nvPr/>
        </p:nvSpPr>
        <p:spPr>
          <a:xfrm>
            <a:off x="9482328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6" name="Shape 114"/>
          <p:cNvSpPr/>
          <p:nvPr/>
        </p:nvSpPr>
        <p:spPr>
          <a:xfrm>
            <a:off x="10195560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7" name="Text 115"/>
          <p:cNvSpPr/>
          <p:nvPr/>
        </p:nvSpPr>
        <p:spPr>
          <a:xfrm>
            <a:off x="9592056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111282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9" name="Shape 117"/>
          <p:cNvSpPr/>
          <p:nvPr/>
        </p:nvSpPr>
        <p:spPr>
          <a:xfrm>
            <a:off x="1122883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0" name="Shape 118"/>
          <p:cNvSpPr/>
          <p:nvPr/>
        </p:nvSpPr>
        <p:spPr>
          <a:xfrm>
            <a:off x="11329416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1" name="Shape 119"/>
          <p:cNvSpPr/>
          <p:nvPr/>
        </p:nvSpPr>
        <p:spPr>
          <a:xfrm>
            <a:off x="9482328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2" name="Shape 120"/>
          <p:cNvSpPr/>
          <p:nvPr/>
        </p:nvSpPr>
        <p:spPr>
          <a:xfrm>
            <a:off x="9482328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3" name="Shape 121"/>
          <p:cNvSpPr/>
          <p:nvPr/>
        </p:nvSpPr>
        <p:spPr>
          <a:xfrm>
            <a:off x="963503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4" name="Text 122"/>
          <p:cNvSpPr/>
          <p:nvPr/>
        </p:nvSpPr>
        <p:spPr>
          <a:xfrm>
            <a:off x="948232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10041026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6" name="Text 124"/>
          <p:cNvSpPr/>
          <p:nvPr/>
        </p:nvSpPr>
        <p:spPr>
          <a:xfrm>
            <a:off x="988832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10447020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Text 126"/>
          <p:cNvSpPr/>
          <p:nvPr/>
        </p:nvSpPr>
        <p:spPr>
          <a:xfrm>
            <a:off x="1029431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10853014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Text 128"/>
          <p:cNvSpPr/>
          <p:nvPr/>
        </p:nvSpPr>
        <p:spPr>
          <a:xfrm>
            <a:off x="10700309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11259007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2" name="Text 130"/>
          <p:cNvSpPr/>
          <p:nvPr/>
        </p:nvSpPr>
        <p:spPr>
          <a:xfrm>
            <a:off x="1110630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9482328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4" name="Text 132"/>
          <p:cNvSpPr/>
          <p:nvPr/>
        </p:nvSpPr>
        <p:spPr>
          <a:xfrm>
            <a:off x="9628632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Review</a:t>
            </a:r>
            <a:endParaRPr lang="en-US" sz="1050" dirty="0"/>
          </a:p>
        </p:txBody>
      </p:sp>
      <p:sp>
        <p:nvSpPr>
          <p:cNvPr id="135" name="Text 133"/>
          <p:cNvSpPr/>
          <p:nvPr/>
        </p:nvSpPr>
        <p:spPr>
          <a:xfrm>
            <a:off x="9628632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before banking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11055096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7" name="Text 135"/>
          <p:cNvSpPr/>
          <p:nvPr/>
        </p:nvSpPr>
        <p:spPr>
          <a:xfrm>
            <a:off x="1105509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9628632" y="243230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9" name="Shape 137"/>
          <p:cNvSpPr/>
          <p:nvPr/>
        </p:nvSpPr>
        <p:spPr>
          <a:xfrm>
            <a:off x="9628632" y="2432304"/>
            <a:ext cx="45720" cy="42062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0" name="Text 138"/>
          <p:cNvSpPr/>
          <p:nvPr/>
        </p:nvSpPr>
        <p:spPr>
          <a:xfrm>
            <a:off x="9756648" y="24323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Total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10451592" y="2432304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1,550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9628632" y="2926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3" name="Shape 141"/>
          <p:cNvSpPr/>
          <p:nvPr/>
        </p:nvSpPr>
        <p:spPr>
          <a:xfrm>
            <a:off x="9628632" y="2926080"/>
            <a:ext cx="45720" cy="42062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4" name="Text 142"/>
          <p:cNvSpPr/>
          <p:nvPr/>
        </p:nvSpPr>
        <p:spPr>
          <a:xfrm>
            <a:off x="9756648" y="292608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Total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10451592" y="2926080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980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9628632" y="3419856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7" name="Shape 145"/>
          <p:cNvSpPr/>
          <p:nvPr/>
        </p:nvSpPr>
        <p:spPr>
          <a:xfrm>
            <a:off x="9628632" y="3419856"/>
            <a:ext cx="45720" cy="42062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8" name="Text 146"/>
          <p:cNvSpPr/>
          <p:nvPr/>
        </p:nvSpPr>
        <p:spPr>
          <a:xfrm>
            <a:off x="9756648" y="341985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Total</a:t>
            </a:r>
            <a:endParaRPr lang="en-US" sz="850" dirty="0"/>
          </a:p>
        </p:txBody>
      </p:sp>
      <p:sp>
        <p:nvSpPr>
          <p:cNvPr id="149" name="Text 147"/>
          <p:cNvSpPr/>
          <p:nvPr/>
        </p:nvSpPr>
        <p:spPr>
          <a:xfrm>
            <a:off x="10451592" y="3419856"/>
            <a:ext cx="786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720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9628632" y="3913632"/>
            <a:ext cx="1737360" cy="566928"/>
          </a:xfrm>
          <a:prstGeom prst="roundRect">
            <a:avLst>
              <a:gd name="adj" fmla="val 1129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1" name="Text 149"/>
          <p:cNvSpPr/>
          <p:nvPr/>
        </p:nvSpPr>
        <p:spPr>
          <a:xfrm>
            <a:off x="9756648" y="39959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INCOME</a:t>
            </a:r>
            <a:endParaRPr lang="en-US" sz="680" dirty="0"/>
          </a:p>
        </p:txBody>
      </p:sp>
      <p:sp>
        <p:nvSpPr>
          <p:cNvPr id="152" name="Text 150"/>
          <p:cNvSpPr/>
          <p:nvPr/>
        </p:nvSpPr>
        <p:spPr>
          <a:xfrm>
            <a:off x="9756648" y="4151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2,530.00</a:t>
            </a:r>
            <a:endParaRPr lang="en-US" sz="1600" dirty="0"/>
          </a:p>
        </p:txBody>
      </p:sp>
      <p:sp>
        <p:nvSpPr>
          <p:cNvPr id="153" name="Shape 151"/>
          <p:cNvSpPr/>
          <p:nvPr/>
        </p:nvSpPr>
        <p:spPr>
          <a:xfrm>
            <a:off x="9628632" y="460857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4" name="Text 152"/>
          <p:cNvSpPr/>
          <p:nvPr/>
        </p:nvSpPr>
        <p:spPr>
          <a:xfrm>
            <a:off x="9628632" y="46040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record banking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9628632" y="4992624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C9A227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6" name="Text 154"/>
          <p:cNvSpPr/>
          <p:nvPr/>
        </p:nvSpPr>
        <p:spPr>
          <a:xfrm>
            <a:off x="9628632" y="49926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Banking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9390888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8" name="Text 156"/>
          <p:cNvSpPr/>
          <p:nvPr/>
        </p:nvSpPr>
        <p:spPr>
          <a:xfrm>
            <a:off x="9390888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59" name="Text 157"/>
          <p:cNvSpPr/>
          <p:nvPr/>
        </p:nvSpPr>
        <p:spPr>
          <a:xfrm>
            <a:off x="9155887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 Submission Review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9155887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confirmed before evidence — the hand-off into Banking &amp; Proofs.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03 · BANKING &amp; PROOFS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Capturing supporting 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rand of income must be matched to evidence. Banking equivalent combines confirmed lines and cash pending deposit, so Sunday cash banked on Monday still balances.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Summary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banking equivalent vs variance.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EFT / Debit Capture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reference, date and proof photo.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Deposit Proof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collected → Monday deposit slip.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0332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41655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81304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34924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44982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55040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70332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70332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5602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70332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201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10931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668012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51530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07400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92130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47999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32729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70332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84962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Banking Summary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962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Grace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7608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2760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49624" y="2432304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3977640" y="243230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4672584" y="243230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49624" y="29077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3977640" y="29077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equivalent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4672584" y="290779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9624" y="3383280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3977640" y="338328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30" dirty="0"/>
          </a:p>
        </p:txBody>
      </p:sp>
      <p:sp>
        <p:nvSpPr>
          <p:cNvPr id="56" name="Text 54"/>
          <p:cNvSpPr/>
          <p:nvPr/>
        </p:nvSpPr>
        <p:spPr>
          <a:xfrm>
            <a:off x="4672584" y="33832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49624" y="385876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3849624" y="38541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849624" y="4279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LINES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849624" y="449884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Shape 59"/>
          <p:cNvSpPr/>
          <p:nvPr/>
        </p:nvSpPr>
        <p:spPr>
          <a:xfrm>
            <a:off x="3849624" y="4498848"/>
            <a:ext cx="45720" cy="402336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3977640" y="45445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EFT · REF8841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3977640" y="47183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· 12 Jul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4672584" y="449884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400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849624" y="4974336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3849624" y="4974336"/>
            <a:ext cx="45720" cy="40233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3977640" y="50200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pending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3977640" y="51937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deposit proof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4672584" y="4974336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600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1188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361188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61188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 Banking Summary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361188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equivalent = confirmed + cash pending, so the week balances to zero variance.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6501384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6592824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Shape 74"/>
          <p:cNvSpPr/>
          <p:nvPr/>
        </p:nvSpPr>
        <p:spPr>
          <a:xfrm>
            <a:off x="7306056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6702552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823874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Shape 77"/>
          <p:cNvSpPr/>
          <p:nvPr/>
        </p:nvSpPr>
        <p:spPr>
          <a:xfrm>
            <a:off x="833932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Shape 78"/>
          <p:cNvSpPr/>
          <p:nvPr/>
        </p:nvSpPr>
        <p:spPr>
          <a:xfrm>
            <a:off x="843991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6592824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6592824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3" name="Shape 81"/>
          <p:cNvSpPr/>
          <p:nvPr/>
        </p:nvSpPr>
        <p:spPr>
          <a:xfrm>
            <a:off x="674552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Text 82"/>
          <p:cNvSpPr/>
          <p:nvPr/>
        </p:nvSpPr>
        <p:spPr>
          <a:xfrm>
            <a:off x="659282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715152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699881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7557516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740481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7963510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Text 88"/>
          <p:cNvSpPr/>
          <p:nvPr/>
        </p:nvSpPr>
        <p:spPr>
          <a:xfrm>
            <a:off x="781080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836950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2" name="Text 90"/>
          <p:cNvSpPr/>
          <p:nvPr/>
        </p:nvSpPr>
        <p:spPr>
          <a:xfrm>
            <a:off x="821679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6592824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6739128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EFT Capture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6739128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banking proof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165592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8165592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739128" y="2432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680" dirty="0"/>
          </a:p>
        </p:txBody>
      </p:sp>
      <p:sp>
        <p:nvSpPr>
          <p:cNvPr id="99" name="Shape 97"/>
          <p:cNvSpPr/>
          <p:nvPr/>
        </p:nvSpPr>
        <p:spPr>
          <a:xfrm>
            <a:off x="6739128" y="2615184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0" name="Text 98"/>
          <p:cNvSpPr/>
          <p:nvPr/>
        </p:nvSpPr>
        <p:spPr>
          <a:xfrm>
            <a:off x="6830568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400.00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6739128" y="3017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6739128" y="320040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3" name="Text 101"/>
          <p:cNvSpPr/>
          <p:nvPr/>
        </p:nvSpPr>
        <p:spPr>
          <a:xfrm>
            <a:off x="6830568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REF8841</a:t>
            </a:r>
            <a:endParaRPr lang="en-US" sz="820" dirty="0"/>
          </a:p>
        </p:txBody>
      </p:sp>
      <p:sp>
        <p:nvSpPr>
          <p:cNvPr id="104" name="Text 102"/>
          <p:cNvSpPr/>
          <p:nvPr/>
        </p:nvSpPr>
        <p:spPr>
          <a:xfrm>
            <a:off x="6739128" y="36027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date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6739128" y="3785616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6" name="Text 104"/>
          <p:cNvSpPr/>
          <p:nvPr/>
        </p:nvSpPr>
        <p:spPr>
          <a:xfrm>
            <a:off x="6830568" y="37856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July 2026</a:t>
            </a:r>
            <a:endParaRPr lang="en-US" sz="820" dirty="0"/>
          </a:p>
        </p:txBody>
      </p:sp>
      <p:sp>
        <p:nvSpPr>
          <p:cNvPr id="107" name="Text 105"/>
          <p:cNvSpPr/>
          <p:nvPr/>
        </p:nvSpPr>
        <p:spPr>
          <a:xfrm>
            <a:off x="8202168" y="378561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739128" y="4187952"/>
            <a:ext cx="1737360" cy="658368"/>
          </a:xfrm>
          <a:prstGeom prst="roundRect">
            <a:avLst>
              <a:gd name="adj" fmla="val 9722"/>
            </a:avLst>
          </a:prstGeom>
          <a:solidFill>
            <a:srgbClr val="EAF0FB"/>
          </a:solidFill>
          <a:ln w="12700">
            <a:solidFill>
              <a:srgbClr val="2F559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109" name="Shape 107"/>
          <p:cNvSpPr/>
          <p:nvPr/>
        </p:nvSpPr>
        <p:spPr>
          <a:xfrm>
            <a:off x="7443216" y="4279392"/>
            <a:ext cx="329184" cy="329184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0" name="Text 108"/>
          <p:cNvSpPr/>
          <p:nvPr/>
        </p:nvSpPr>
        <p:spPr>
          <a:xfrm>
            <a:off x="7443216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6739128" y="46268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/ upload proof photo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739128" y="4974336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3" name="Text 111"/>
          <p:cNvSpPr/>
          <p:nvPr/>
        </p:nvSpPr>
        <p:spPr>
          <a:xfrm>
            <a:off x="6739128" y="4974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banking line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501384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5" name="Text 113"/>
          <p:cNvSpPr/>
          <p:nvPr/>
        </p:nvSpPr>
        <p:spPr>
          <a:xfrm>
            <a:off x="6501384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501384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 EFT / Debit Capture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6501384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Camera-first proof capture; direct debit uses the identical form.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9390888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9" name="Shape 117"/>
          <p:cNvSpPr/>
          <p:nvPr/>
        </p:nvSpPr>
        <p:spPr>
          <a:xfrm>
            <a:off x="9482328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0" name="Shape 118"/>
          <p:cNvSpPr/>
          <p:nvPr/>
        </p:nvSpPr>
        <p:spPr>
          <a:xfrm>
            <a:off x="10195560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1" name="Text 119"/>
          <p:cNvSpPr/>
          <p:nvPr/>
        </p:nvSpPr>
        <p:spPr>
          <a:xfrm>
            <a:off x="9592056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111282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3" name="Shape 121"/>
          <p:cNvSpPr/>
          <p:nvPr/>
        </p:nvSpPr>
        <p:spPr>
          <a:xfrm>
            <a:off x="1122883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4" name="Shape 122"/>
          <p:cNvSpPr/>
          <p:nvPr/>
        </p:nvSpPr>
        <p:spPr>
          <a:xfrm>
            <a:off x="11329416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5" name="Shape 123"/>
          <p:cNvSpPr/>
          <p:nvPr/>
        </p:nvSpPr>
        <p:spPr>
          <a:xfrm>
            <a:off x="9482328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6" name="Shape 124"/>
          <p:cNvSpPr/>
          <p:nvPr/>
        </p:nvSpPr>
        <p:spPr>
          <a:xfrm>
            <a:off x="9482328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7" name="Shape 125"/>
          <p:cNvSpPr/>
          <p:nvPr/>
        </p:nvSpPr>
        <p:spPr>
          <a:xfrm>
            <a:off x="963503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Text 126"/>
          <p:cNvSpPr/>
          <p:nvPr/>
        </p:nvSpPr>
        <p:spPr>
          <a:xfrm>
            <a:off x="948232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1004102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Text 128"/>
          <p:cNvSpPr/>
          <p:nvPr/>
        </p:nvSpPr>
        <p:spPr>
          <a:xfrm>
            <a:off x="988832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10447020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2" name="Text 130"/>
          <p:cNvSpPr/>
          <p:nvPr/>
        </p:nvSpPr>
        <p:spPr>
          <a:xfrm>
            <a:off x="1029431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10853014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4" name="Text 132"/>
          <p:cNvSpPr/>
          <p:nvPr/>
        </p:nvSpPr>
        <p:spPr>
          <a:xfrm>
            <a:off x="10700309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11259007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6" name="Text 134"/>
          <p:cNvSpPr/>
          <p:nvPr/>
        </p:nvSpPr>
        <p:spPr>
          <a:xfrm>
            <a:off x="1110630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9482328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8" name="Text 136"/>
          <p:cNvSpPr/>
          <p:nvPr/>
        </p:nvSpPr>
        <p:spPr>
          <a:xfrm>
            <a:off x="9628632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Deposit Proof</a:t>
            </a:r>
            <a:endParaRPr lang="en-US" sz="1050" dirty="0"/>
          </a:p>
        </p:txBody>
      </p:sp>
      <p:sp>
        <p:nvSpPr>
          <p:cNvPr id="139" name="Text 137"/>
          <p:cNvSpPr/>
          <p:nvPr/>
        </p:nvSpPr>
        <p:spPr>
          <a:xfrm>
            <a:off x="9628632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cash · Monday bank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11055096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1" name="Text 139"/>
          <p:cNvSpPr/>
          <p:nvPr/>
        </p:nvSpPr>
        <p:spPr>
          <a:xfrm>
            <a:off x="1105509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9628632" y="2432304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3" name="Text 141"/>
          <p:cNvSpPr/>
          <p:nvPr/>
        </p:nvSpPr>
        <p:spPr>
          <a:xfrm>
            <a:off x="9756648" y="2505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deposit proof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9756648" y="27066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600 collected · 11 Jul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9628632" y="305409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date</a:t>
            </a:r>
            <a:endParaRPr lang="en-US" sz="680" dirty="0"/>
          </a:p>
        </p:txBody>
      </p:sp>
      <p:sp>
        <p:nvSpPr>
          <p:cNvPr id="146" name="Shape 144"/>
          <p:cNvSpPr/>
          <p:nvPr/>
        </p:nvSpPr>
        <p:spPr>
          <a:xfrm>
            <a:off x="9628632" y="3236976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7" name="Text 145"/>
          <p:cNvSpPr/>
          <p:nvPr/>
        </p:nvSpPr>
        <p:spPr>
          <a:xfrm>
            <a:off x="9720072" y="32369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July 2026</a:t>
            </a:r>
            <a:endParaRPr lang="en-US" sz="820" dirty="0"/>
          </a:p>
        </p:txBody>
      </p:sp>
      <p:sp>
        <p:nvSpPr>
          <p:cNvPr id="148" name="Text 146"/>
          <p:cNvSpPr/>
          <p:nvPr/>
        </p:nvSpPr>
        <p:spPr>
          <a:xfrm>
            <a:off x="11091672" y="323697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9628632" y="363931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reference</a:t>
            </a:r>
            <a:endParaRPr lang="en-US" sz="680" dirty="0"/>
          </a:p>
        </p:txBody>
      </p:sp>
      <p:sp>
        <p:nvSpPr>
          <p:cNvPr id="150" name="Shape 148"/>
          <p:cNvSpPr/>
          <p:nvPr/>
        </p:nvSpPr>
        <p:spPr>
          <a:xfrm>
            <a:off x="9628632" y="3822192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1" name="Text 149"/>
          <p:cNvSpPr/>
          <p:nvPr/>
        </p:nvSpPr>
        <p:spPr>
          <a:xfrm>
            <a:off x="9720072" y="3822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DEP-20726</a:t>
            </a:r>
            <a:endParaRPr lang="en-US" sz="820" dirty="0"/>
          </a:p>
        </p:txBody>
      </p:sp>
      <p:sp>
        <p:nvSpPr>
          <p:cNvPr id="152" name="Shape 150"/>
          <p:cNvSpPr/>
          <p:nvPr/>
        </p:nvSpPr>
        <p:spPr>
          <a:xfrm>
            <a:off x="9628632" y="4224528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1E9E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3" name="Shape 151"/>
          <p:cNvSpPr/>
          <p:nvPr/>
        </p:nvSpPr>
        <p:spPr>
          <a:xfrm>
            <a:off x="9738360" y="43434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5F7FB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4" name="Text 152"/>
          <p:cNvSpPr/>
          <p:nvPr/>
        </p:nvSpPr>
        <p:spPr>
          <a:xfrm>
            <a:off x="973836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200" dirty="0"/>
          </a:p>
        </p:txBody>
      </p:sp>
      <p:sp>
        <p:nvSpPr>
          <p:cNvPr id="155" name="Text 153"/>
          <p:cNvSpPr/>
          <p:nvPr/>
        </p:nvSpPr>
        <p:spPr>
          <a:xfrm>
            <a:off x="10195560" y="43616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deposit-slip.jpg</a:t>
            </a:r>
            <a:endParaRPr lang="en-US" sz="780" dirty="0"/>
          </a:p>
        </p:txBody>
      </p:sp>
      <p:sp>
        <p:nvSpPr>
          <p:cNvPr id="156" name="Shape 154"/>
          <p:cNvSpPr/>
          <p:nvPr/>
        </p:nvSpPr>
        <p:spPr>
          <a:xfrm>
            <a:off x="10195560" y="4553712"/>
            <a:ext cx="621792" cy="20116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7" name="Text 155"/>
          <p:cNvSpPr/>
          <p:nvPr/>
        </p:nvSpPr>
        <p:spPr>
          <a:xfrm>
            <a:off x="10195560" y="45491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</a:t>
            </a:r>
            <a:endParaRPr lang="en-US" sz="680" dirty="0"/>
          </a:p>
        </p:txBody>
      </p:sp>
      <p:sp>
        <p:nvSpPr>
          <p:cNvPr id="158" name="Shape 156"/>
          <p:cNvSpPr/>
          <p:nvPr/>
        </p:nvSpPr>
        <p:spPr>
          <a:xfrm>
            <a:off x="9628632" y="4956048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E9E63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9" name="Text 157"/>
          <p:cNvSpPr/>
          <p:nvPr/>
        </p:nvSpPr>
        <p:spPr>
          <a:xfrm>
            <a:off x="9628632" y="49560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deposit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9390888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1" name="Text 159"/>
          <p:cNvSpPr/>
          <p:nvPr/>
        </p:nvSpPr>
        <p:spPr>
          <a:xfrm>
            <a:off x="9390888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9155887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 Cash Deposit Proof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9155887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cash-pending loop once the Monday slip is uploaded.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04 · EXPENSES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expenditure — capture &amp; approval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must declare expenses, even zero. Receipts are mandatory above zero, and any month over R500 routes to the Elder for approval.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Declaration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expenses or declare none this month.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Capture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description, amount, receipt photo.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Approval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approves / rejects over R500.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24612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33756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05079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44728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98348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08406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1846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33756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33756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49026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33756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389625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374355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30225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14954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70824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55554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114239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496153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33756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48386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48386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declaration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91032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491032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83864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this month's expenses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483864" y="2752344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5875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Shape 48"/>
          <p:cNvSpPr/>
          <p:nvPr/>
        </p:nvSpPr>
        <p:spPr>
          <a:xfrm>
            <a:off x="3593592" y="2916936"/>
            <a:ext cx="274320" cy="274320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3593592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941064" y="28437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recorded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1064" y="3063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individual receipts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3483864" y="3465576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F5F7FB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Shape 53"/>
          <p:cNvSpPr/>
          <p:nvPr/>
        </p:nvSpPr>
        <p:spPr>
          <a:xfrm>
            <a:off x="3593592" y="36301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3941064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expenses this month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941064" y="37764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declaration is logged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3483864" y="425196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3483864" y="4251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4612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324612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4612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 Declaration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24612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a first-class choice — no month is left ambiguous.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580644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5" name="Shape 63"/>
          <p:cNvSpPr/>
          <p:nvPr/>
        </p:nvSpPr>
        <p:spPr>
          <a:xfrm>
            <a:off x="589788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661111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600760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54380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764438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774496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Shape 69"/>
          <p:cNvSpPr/>
          <p:nvPr/>
        </p:nvSpPr>
        <p:spPr>
          <a:xfrm>
            <a:off x="589788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2" name="Shape 70"/>
          <p:cNvSpPr/>
          <p:nvPr/>
        </p:nvSpPr>
        <p:spPr>
          <a:xfrm>
            <a:off x="589788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3" name="Shape 71"/>
          <p:cNvSpPr/>
          <p:nvPr/>
        </p:nvSpPr>
        <p:spPr>
          <a:xfrm>
            <a:off x="605058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Text 72"/>
          <p:cNvSpPr/>
          <p:nvPr/>
        </p:nvSpPr>
        <p:spPr>
          <a:xfrm>
            <a:off x="589788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645657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630387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686257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670986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726856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711586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7674559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Text 80"/>
          <p:cNvSpPr/>
          <p:nvPr/>
        </p:nvSpPr>
        <p:spPr>
          <a:xfrm>
            <a:off x="752185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89788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Text 82"/>
          <p:cNvSpPr/>
          <p:nvPr/>
        </p:nvSpPr>
        <p:spPr>
          <a:xfrm>
            <a:off x="604418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Expense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604418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47064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747064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6044184" y="2432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6044184" y="2615184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0" name="Text 88"/>
          <p:cNvSpPr/>
          <p:nvPr/>
        </p:nvSpPr>
        <p:spPr>
          <a:xfrm>
            <a:off x="6135624" y="26151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July 2026</a:t>
            </a:r>
            <a:endParaRPr lang="en-US" sz="820" dirty="0"/>
          </a:p>
        </p:txBody>
      </p:sp>
      <p:sp>
        <p:nvSpPr>
          <p:cNvPr id="91" name="Text 89"/>
          <p:cNvSpPr/>
          <p:nvPr/>
        </p:nvSpPr>
        <p:spPr>
          <a:xfrm>
            <a:off x="7507224" y="2615184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044184" y="30175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6044184" y="320040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6135624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supplies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6044184" y="36027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6044184" y="3785616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6135624" y="37856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320.00</a:t>
            </a:r>
            <a:endParaRPr lang="en-US" sz="820" dirty="0"/>
          </a:p>
        </p:txBody>
      </p:sp>
      <p:sp>
        <p:nvSpPr>
          <p:cNvPr id="98" name="Shape 96"/>
          <p:cNvSpPr/>
          <p:nvPr/>
        </p:nvSpPr>
        <p:spPr>
          <a:xfrm>
            <a:off x="6044184" y="4187952"/>
            <a:ext cx="1737360" cy="548640"/>
          </a:xfrm>
          <a:prstGeom prst="roundRect">
            <a:avLst>
              <a:gd name="adj" fmla="val 11667"/>
            </a:avLst>
          </a:prstGeom>
          <a:solidFill>
            <a:srgbClr val="EAF0FB"/>
          </a:solidFill>
          <a:ln w="12700">
            <a:solidFill>
              <a:srgbClr val="2F559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99" name="Text 97"/>
          <p:cNvSpPr/>
          <p:nvPr/>
        </p:nvSpPr>
        <p:spPr>
          <a:xfrm>
            <a:off x="6044184" y="4187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Receipt photo required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044184" y="4864608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044184" y="48646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expense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80644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3" name="Text 101"/>
          <p:cNvSpPr/>
          <p:nvPr/>
        </p:nvSpPr>
        <p:spPr>
          <a:xfrm>
            <a:off x="580644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80644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 Expense Capture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580644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description and amount are mandatory; receipt required above zero.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8458200" y="1371600"/>
            <a:ext cx="3154680" cy="4114800"/>
          </a:xfrm>
          <a:prstGeom prst="roundRect">
            <a:avLst>
              <a:gd name="adj" fmla="val 2609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7" name="Shape 105"/>
          <p:cNvSpPr/>
          <p:nvPr/>
        </p:nvSpPr>
        <p:spPr>
          <a:xfrm>
            <a:off x="8604504" y="148132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8" name="Shape 106"/>
          <p:cNvSpPr/>
          <p:nvPr/>
        </p:nvSpPr>
        <p:spPr>
          <a:xfrm>
            <a:off x="8741664" y="148132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9" name="Shape 107"/>
          <p:cNvSpPr/>
          <p:nvPr/>
        </p:nvSpPr>
        <p:spPr>
          <a:xfrm>
            <a:off x="8878824" y="148132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0" name="Shape 108"/>
          <p:cNvSpPr/>
          <p:nvPr/>
        </p:nvSpPr>
        <p:spPr>
          <a:xfrm>
            <a:off x="9116568" y="1449324"/>
            <a:ext cx="178308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1" name="Text 109"/>
          <p:cNvSpPr/>
          <p:nvPr/>
        </p:nvSpPr>
        <p:spPr>
          <a:xfrm>
            <a:off x="9244584" y="142646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app.church.finance/approvals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8513064" y="1682496"/>
            <a:ext cx="3044952" cy="374904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3" name="Text 111"/>
          <p:cNvSpPr/>
          <p:nvPr/>
        </p:nvSpPr>
        <p:spPr>
          <a:xfrm>
            <a:off x="8695944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 Approval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8695944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Congregation · July 2026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695944" y="2340864"/>
            <a:ext cx="2679192" cy="274320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6" name="Text 114"/>
          <p:cNvSpPr/>
          <p:nvPr/>
        </p:nvSpPr>
        <p:spPr>
          <a:xfrm>
            <a:off x="8695944" y="233629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expenses R720 · above R500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8695944" y="2779776"/>
            <a:ext cx="26791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8" name="Text 116"/>
          <p:cNvSpPr/>
          <p:nvPr/>
        </p:nvSpPr>
        <p:spPr>
          <a:xfrm>
            <a:off x="8823960" y="2834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supplies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8823960" y="30175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</a:t>
            </a:r>
            <a:endParaRPr lang="en-US" sz="680" dirty="0"/>
          </a:p>
        </p:txBody>
      </p:sp>
      <p:sp>
        <p:nvSpPr>
          <p:cNvPr id="120" name="Text 118"/>
          <p:cNvSpPr/>
          <p:nvPr/>
        </p:nvSpPr>
        <p:spPr>
          <a:xfrm>
            <a:off x="10140696" y="27797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320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11100816" y="2898648"/>
            <a:ext cx="310896" cy="21945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2" name="Text 120"/>
          <p:cNvSpPr/>
          <p:nvPr/>
        </p:nvSpPr>
        <p:spPr>
          <a:xfrm>
            <a:off x="11100816" y="289407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8695944" y="3328416"/>
            <a:ext cx="26791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4" name="Text 122"/>
          <p:cNvSpPr/>
          <p:nvPr/>
        </p:nvSpPr>
        <p:spPr>
          <a:xfrm>
            <a:off x="8823960" y="33832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8823960" y="3566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</a:t>
            </a:r>
            <a:endParaRPr lang="en-US" sz="680" dirty="0"/>
          </a:p>
        </p:txBody>
      </p:sp>
      <p:sp>
        <p:nvSpPr>
          <p:cNvPr id="126" name="Text 124"/>
          <p:cNvSpPr/>
          <p:nvPr/>
        </p:nvSpPr>
        <p:spPr>
          <a:xfrm>
            <a:off x="10140696" y="33284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400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11100816" y="3447288"/>
            <a:ext cx="310896" cy="21945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Text 126"/>
          <p:cNvSpPr/>
          <p:nvPr/>
        </p:nvSpPr>
        <p:spPr>
          <a:xfrm>
            <a:off x="11100816" y="344271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8695944" y="3922776"/>
            <a:ext cx="1293876" cy="384048"/>
          </a:xfrm>
          <a:prstGeom prst="roundRect">
            <a:avLst>
              <a:gd name="adj" fmla="val 16667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Text 128"/>
          <p:cNvSpPr/>
          <p:nvPr/>
        </p:nvSpPr>
        <p:spPr>
          <a:xfrm>
            <a:off x="8695944" y="3922776"/>
            <a:ext cx="1293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10081260" y="3922776"/>
            <a:ext cx="129387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D0453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2" name="Text 130"/>
          <p:cNvSpPr/>
          <p:nvPr/>
        </p:nvSpPr>
        <p:spPr>
          <a:xfrm>
            <a:off x="10081260" y="3922776"/>
            <a:ext cx="12938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8458200" y="5623560"/>
            <a:ext cx="630936" cy="219456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4" name="Text 132"/>
          <p:cNvSpPr/>
          <p:nvPr/>
        </p:nvSpPr>
        <p:spPr>
          <a:xfrm>
            <a:off x="8458200" y="5618988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8458200" y="5897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 Elder Approval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8458200" y="6108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only when a month exceeds R500.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05 · WEEKLY RECONCILIATION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the week before audit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rule, not just a report: a week cannot reach the auditor unless it balances. The formula and variance are shown plainly so Treasurers can self-correct.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Reconciliation Summary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 expenses = banking equivalent.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Results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balanced / red variance with detail.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Readiness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audit, or blocked with reason.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0332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41655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81304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34924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44982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55040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70332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70332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5602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70332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201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10931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668012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51530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07400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92130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47999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32729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70332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84962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Reconciliation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962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Grace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7608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2760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49624" y="2432304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3977640" y="243230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672584" y="243230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849624" y="2907792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3977640" y="29077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expenses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4672584" y="2907792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 300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849624" y="3383280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3977640" y="338328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equivalent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4672584" y="33832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49624" y="3858768"/>
            <a:ext cx="1737360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3849624" y="3931920"/>
            <a:ext cx="1737360" cy="603504"/>
          </a:xfrm>
          <a:prstGeom prst="roundRect">
            <a:avLst>
              <a:gd name="adj" fmla="val 10606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3977640" y="40233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3977640" y="4169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9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0.00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4837176" y="41148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4837176" y="41102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49624" y="4681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 Expenses = Banking Equivalent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61188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361188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61188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5.1 Reconciliation Summary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61188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formula made visible, with a live variance figure.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501384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6592824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7306056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6702552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823874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Shape 71"/>
          <p:cNvSpPr/>
          <p:nvPr/>
        </p:nvSpPr>
        <p:spPr>
          <a:xfrm>
            <a:off x="833932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Shape 72"/>
          <p:cNvSpPr/>
          <p:nvPr/>
        </p:nvSpPr>
        <p:spPr>
          <a:xfrm>
            <a:off x="843991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6592824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Shape 74"/>
          <p:cNvSpPr/>
          <p:nvPr/>
        </p:nvSpPr>
        <p:spPr>
          <a:xfrm>
            <a:off x="6592824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7" name="Shape 75"/>
          <p:cNvSpPr/>
          <p:nvPr/>
        </p:nvSpPr>
        <p:spPr>
          <a:xfrm>
            <a:off x="674552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659282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715152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699881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7557516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Text 80"/>
          <p:cNvSpPr/>
          <p:nvPr/>
        </p:nvSpPr>
        <p:spPr>
          <a:xfrm>
            <a:off x="740481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7963510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Text 82"/>
          <p:cNvSpPr/>
          <p:nvPr/>
        </p:nvSpPr>
        <p:spPr>
          <a:xfrm>
            <a:off x="781080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836950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821679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6592824" y="1664208"/>
            <a:ext cx="2029968" cy="658368"/>
          </a:xfrm>
          <a:prstGeom prst="rect">
            <a:avLst/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6739128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6739128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not balanced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165592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8165592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739128" y="2432304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3" name="Shape 91"/>
          <p:cNvSpPr/>
          <p:nvPr/>
        </p:nvSpPr>
        <p:spPr>
          <a:xfrm>
            <a:off x="6867144" y="2606040"/>
            <a:ext cx="310896" cy="310896"/>
          </a:xfrm>
          <a:prstGeom prst="ellipse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6867144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726948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269480" y="2779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R50 must be resolved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739128" y="321868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6867144" y="32186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7562088" y="321868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739128" y="363931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867144" y="36393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780" dirty="0"/>
          </a:p>
        </p:txBody>
      </p:sp>
      <p:sp>
        <p:nvSpPr>
          <p:cNvPr id="102" name="Text 100"/>
          <p:cNvSpPr/>
          <p:nvPr/>
        </p:nvSpPr>
        <p:spPr>
          <a:xfrm>
            <a:off x="7562088" y="3639312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300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739128" y="4059936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6867144" y="40599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+ pending</a:t>
            </a:r>
            <a:endParaRPr lang="en-US" sz="780" dirty="0"/>
          </a:p>
        </p:txBody>
      </p:sp>
      <p:sp>
        <p:nvSpPr>
          <p:cNvPr id="105" name="Text 103"/>
          <p:cNvSpPr/>
          <p:nvPr/>
        </p:nvSpPr>
        <p:spPr>
          <a:xfrm>
            <a:off x="7562088" y="4059936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650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739128" y="4480560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7" name="Text 105"/>
          <p:cNvSpPr/>
          <p:nvPr/>
        </p:nvSpPr>
        <p:spPr>
          <a:xfrm>
            <a:off x="6867144" y="4480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equivalent</a:t>
            </a:r>
            <a:endParaRPr lang="en-US" sz="780" dirty="0"/>
          </a:p>
        </p:txBody>
      </p:sp>
      <p:sp>
        <p:nvSpPr>
          <p:cNvPr id="108" name="Text 106"/>
          <p:cNvSpPr/>
          <p:nvPr/>
        </p:nvSpPr>
        <p:spPr>
          <a:xfrm>
            <a:off x="7562088" y="448056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650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6739128" y="4901184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0" name="Text 108"/>
          <p:cNvSpPr/>
          <p:nvPr/>
        </p:nvSpPr>
        <p:spPr>
          <a:xfrm>
            <a:off x="6867144" y="49011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708392" y="4901184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50.00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6501384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3" name="Text 111"/>
          <p:cNvSpPr/>
          <p:nvPr/>
        </p:nvSpPr>
        <p:spPr>
          <a:xfrm>
            <a:off x="6501384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501384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 Validation Results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6501384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week exposes every input so the gap is obvious.</a:t>
            </a:r>
            <a:endParaRPr lang="en-US" sz="780" dirty="0"/>
          </a:p>
        </p:txBody>
      </p:sp>
      <p:sp>
        <p:nvSpPr>
          <p:cNvPr id="116" name="Shape 114"/>
          <p:cNvSpPr/>
          <p:nvPr/>
        </p:nvSpPr>
        <p:spPr>
          <a:xfrm>
            <a:off x="9390888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7" name="Shape 115"/>
          <p:cNvSpPr/>
          <p:nvPr/>
        </p:nvSpPr>
        <p:spPr>
          <a:xfrm>
            <a:off x="9482328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8" name="Shape 116"/>
          <p:cNvSpPr/>
          <p:nvPr/>
        </p:nvSpPr>
        <p:spPr>
          <a:xfrm>
            <a:off x="10195560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9" name="Text 117"/>
          <p:cNvSpPr/>
          <p:nvPr/>
        </p:nvSpPr>
        <p:spPr>
          <a:xfrm>
            <a:off x="9592056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120" name="Shape 118"/>
          <p:cNvSpPr/>
          <p:nvPr/>
        </p:nvSpPr>
        <p:spPr>
          <a:xfrm>
            <a:off x="111282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1" name="Shape 119"/>
          <p:cNvSpPr/>
          <p:nvPr/>
        </p:nvSpPr>
        <p:spPr>
          <a:xfrm>
            <a:off x="1122883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2" name="Shape 120"/>
          <p:cNvSpPr/>
          <p:nvPr/>
        </p:nvSpPr>
        <p:spPr>
          <a:xfrm>
            <a:off x="11329416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3" name="Shape 121"/>
          <p:cNvSpPr/>
          <p:nvPr/>
        </p:nvSpPr>
        <p:spPr>
          <a:xfrm>
            <a:off x="9482328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4" name="Shape 122"/>
          <p:cNvSpPr/>
          <p:nvPr/>
        </p:nvSpPr>
        <p:spPr>
          <a:xfrm>
            <a:off x="9482328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5" name="Shape 123"/>
          <p:cNvSpPr/>
          <p:nvPr/>
        </p:nvSpPr>
        <p:spPr>
          <a:xfrm>
            <a:off x="963503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6" name="Text 124"/>
          <p:cNvSpPr/>
          <p:nvPr/>
        </p:nvSpPr>
        <p:spPr>
          <a:xfrm>
            <a:off x="948232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1004102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Text 126"/>
          <p:cNvSpPr/>
          <p:nvPr/>
        </p:nvSpPr>
        <p:spPr>
          <a:xfrm>
            <a:off x="988832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10447020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Text 128"/>
          <p:cNvSpPr/>
          <p:nvPr/>
        </p:nvSpPr>
        <p:spPr>
          <a:xfrm>
            <a:off x="1029431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10853014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2" name="Text 130"/>
          <p:cNvSpPr/>
          <p:nvPr/>
        </p:nvSpPr>
        <p:spPr>
          <a:xfrm>
            <a:off x="10700309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11259007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4" name="Text 132"/>
          <p:cNvSpPr/>
          <p:nvPr/>
        </p:nvSpPr>
        <p:spPr>
          <a:xfrm>
            <a:off x="1110630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9482328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6" name="Text 134"/>
          <p:cNvSpPr/>
          <p:nvPr/>
        </p:nvSpPr>
        <p:spPr>
          <a:xfrm>
            <a:off x="9628632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Readiness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9628632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Grace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11055096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9" name="Text 137"/>
          <p:cNvSpPr/>
          <p:nvPr/>
        </p:nvSpPr>
        <p:spPr>
          <a:xfrm>
            <a:off x="1105509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10085832" y="2523744"/>
            <a:ext cx="822960" cy="822960"/>
          </a:xfrm>
          <a:prstGeom prst="ellipse">
            <a:avLst/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1" name="Shape 139"/>
          <p:cNvSpPr/>
          <p:nvPr/>
        </p:nvSpPr>
        <p:spPr>
          <a:xfrm>
            <a:off x="10222992" y="2660904"/>
            <a:ext cx="548640" cy="54864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2" name="Text 140"/>
          <p:cNvSpPr/>
          <p:nvPr/>
        </p:nvSpPr>
        <p:spPr>
          <a:xfrm>
            <a:off x="10222992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482328" y="348386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Audit</a:t>
            </a:r>
            <a:endParaRPr lang="en-US" sz="1300" dirty="0"/>
          </a:p>
        </p:txBody>
      </p:sp>
      <p:sp>
        <p:nvSpPr>
          <p:cNvPr id="144" name="Text 142"/>
          <p:cNvSpPr/>
          <p:nvPr/>
        </p:nvSpPr>
        <p:spPr>
          <a:xfrm>
            <a:off x="9482328" y="377647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balances to R0 variance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9628632" y="414223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6" name="Text 144"/>
          <p:cNvSpPr/>
          <p:nvPr/>
        </p:nvSpPr>
        <p:spPr>
          <a:xfrm>
            <a:off x="9756648" y="4142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10689336" y="4224528"/>
            <a:ext cx="676656" cy="20116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8" name="Text 146"/>
          <p:cNvSpPr/>
          <p:nvPr/>
        </p:nvSpPr>
        <p:spPr>
          <a:xfrm>
            <a:off x="10689336" y="42199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680" dirty="0"/>
          </a:p>
        </p:txBody>
      </p:sp>
      <p:sp>
        <p:nvSpPr>
          <p:cNvPr id="149" name="Shape 147"/>
          <p:cNvSpPr/>
          <p:nvPr/>
        </p:nvSpPr>
        <p:spPr>
          <a:xfrm>
            <a:off x="9628632" y="4581144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0" name="Text 148"/>
          <p:cNvSpPr/>
          <p:nvPr/>
        </p:nvSpPr>
        <p:spPr>
          <a:xfrm>
            <a:off x="9756648" y="4581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proofs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0689336" y="4663440"/>
            <a:ext cx="676656" cy="20116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2" name="Text 150"/>
          <p:cNvSpPr/>
          <p:nvPr/>
        </p:nvSpPr>
        <p:spPr>
          <a:xfrm>
            <a:off x="10689336" y="46588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680" dirty="0"/>
          </a:p>
        </p:txBody>
      </p:sp>
      <p:sp>
        <p:nvSpPr>
          <p:cNvPr id="153" name="Shape 151"/>
          <p:cNvSpPr/>
          <p:nvPr/>
        </p:nvSpPr>
        <p:spPr>
          <a:xfrm>
            <a:off x="9628632" y="5020056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4" name="Text 152"/>
          <p:cNvSpPr/>
          <p:nvPr/>
        </p:nvSpPr>
        <p:spPr>
          <a:xfrm>
            <a:off x="9756648" y="5020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10689336" y="5102352"/>
            <a:ext cx="676656" cy="201168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6" name="Text 154"/>
          <p:cNvSpPr/>
          <p:nvPr/>
        </p:nvSpPr>
        <p:spPr>
          <a:xfrm>
            <a:off x="10689336" y="509778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endParaRPr lang="en-US" sz="680" dirty="0"/>
          </a:p>
        </p:txBody>
      </p:sp>
      <p:sp>
        <p:nvSpPr>
          <p:cNvPr id="157" name="Shape 155"/>
          <p:cNvSpPr/>
          <p:nvPr/>
        </p:nvSpPr>
        <p:spPr>
          <a:xfrm>
            <a:off x="9628632" y="5477256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C9A227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8" name="Text 156"/>
          <p:cNvSpPr/>
          <p:nvPr/>
        </p:nvSpPr>
        <p:spPr>
          <a:xfrm>
            <a:off x="9628632" y="54772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audit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9390888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0" name="Text 158"/>
          <p:cNvSpPr/>
          <p:nvPr/>
        </p:nvSpPr>
        <p:spPr>
          <a:xfrm>
            <a:off x="9390888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155887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5.3 Audit Readiness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9155887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gate: submit is only enabled once every check passes.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06 · AUDIT REVIEW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independent auditor's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review evidence, then approve or reject. Approval is blocked unless the week balances, and rejection always requires a mandatory comment.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Awaiting Audit Queue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pending weeks across congregations.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Review Screen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banking, expenses and proofs.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 Decision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or reject with a required reason.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0332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41655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81304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34924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544982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555040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70332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70332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5602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70332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201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10931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466801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51530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074006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92130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547999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532729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70332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384962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Awaiting Audit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962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pending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7608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52760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49624" y="2432304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3849624" y="2432304"/>
            <a:ext cx="45720" cy="512064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3977640" y="25054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Week 1</a:t>
            </a:r>
            <a:endParaRPr lang="en-US" sz="860" dirty="0"/>
          </a:p>
        </p:txBody>
      </p:sp>
      <p:sp>
        <p:nvSpPr>
          <p:cNvPr id="51" name="Text 49"/>
          <p:cNvSpPr/>
          <p:nvPr/>
        </p:nvSpPr>
        <p:spPr>
          <a:xfrm>
            <a:off x="3977640" y="27066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· R0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4946904" y="257860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4946904" y="25740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849624" y="3017520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5" name="Shape 53"/>
          <p:cNvSpPr/>
          <p:nvPr/>
        </p:nvSpPr>
        <p:spPr>
          <a:xfrm>
            <a:off x="3849624" y="3017520"/>
            <a:ext cx="45720" cy="512064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3977640" y="30906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· Week 1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3977640" y="32918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· R50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4946904" y="3163824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4946904" y="31592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849624" y="3602736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Shape 59"/>
          <p:cNvSpPr/>
          <p:nvPr/>
        </p:nvSpPr>
        <p:spPr>
          <a:xfrm>
            <a:off x="3849624" y="3602736"/>
            <a:ext cx="45720" cy="512064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3977640" y="3675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· Week 2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3977640" y="38770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· R0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4946904" y="374904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4946904" y="37444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849624" y="4187952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Shape 65"/>
          <p:cNvSpPr/>
          <p:nvPr/>
        </p:nvSpPr>
        <p:spPr>
          <a:xfrm>
            <a:off x="3849624" y="4187952"/>
            <a:ext cx="45720" cy="512064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8" name="Text 66"/>
          <p:cNvSpPr/>
          <p:nvPr/>
        </p:nvSpPr>
        <p:spPr>
          <a:xfrm>
            <a:off x="3977640" y="42611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· Week 1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3977640" y="44622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· R0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4946904" y="4334256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4946904" y="43296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361188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361188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61188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 Awaiting Audit Queue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61188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state is visible before opening — auditors triage at a glance.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501384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7" name="Shape 75"/>
          <p:cNvSpPr/>
          <p:nvPr/>
        </p:nvSpPr>
        <p:spPr>
          <a:xfrm>
            <a:off x="6592824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Shape 76"/>
          <p:cNvSpPr/>
          <p:nvPr/>
        </p:nvSpPr>
        <p:spPr>
          <a:xfrm>
            <a:off x="7306056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6702552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823874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833932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843991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Shape 81"/>
          <p:cNvSpPr/>
          <p:nvPr/>
        </p:nvSpPr>
        <p:spPr>
          <a:xfrm>
            <a:off x="6592824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Shape 82"/>
          <p:cNvSpPr/>
          <p:nvPr/>
        </p:nvSpPr>
        <p:spPr>
          <a:xfrm>
            <a:off x="6592824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5" name="Shape 83"/>
          <p:cNvSpPr/>
          <p:nvPr/>
        </p:nvSpPr>
        <p:spPr>
          <a:xfrm>
            <a:off x="6745529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659282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715152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699881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755751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Text 88"/>
          <p:cNvSpPr/>
          <p:nvPr/>
        </p:nvSpPr>
        <p:spPr>
          <a:xfrm>
            <a:off x="740481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7963510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2" name="Text 90"/>
          <p:cNvSpPr/>
          <p:nvPr/>
        </p:nvSpPr>
        <p:spPr>
          <a:xfrm>
            <a:off x="781080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836950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821679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592824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6" name="Text 94"/>
          <p:cNvSpPr/>
          <p:nvPr/>
        </p:nvSpPr>
        <p:spPr>
          <a:xfrm>
            <a:off x="6739128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Review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6739128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Week 1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165592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9" name="Text 97"/>
          <p:cNvSpPr/>
          <p:nvPr/>
        </p:nvSpPr>
        <p:spPr>
          <a:xfrm>
            <a:off x="8165592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739128" y="2432304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6848856" y="24323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141464" y="24323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616952" y="2432304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6739128" y="292608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5" name="Text 103"/>
          <p:cNvSpPr/>
          <p:nvPr/>
        </p:nvSpPr>
        <p:spPr>
          <a:xfrm>
            <a:off x="6848856" y="29260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7141464" y="2926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616952" y="29260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739128" y="3419856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9" name="Text 107"/>
          <p:cNvSpPr/>
          <p:nvPr/>
        </p:nvSpPr>
        <p:spPr>
          <a:xfrm>
            <a:off x="6848856" y="341985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7141464" y="34198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7616952" y="3419856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300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739128" y="3913632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3" name="Text 111"/>
          <p:cNvSpPr/>
          <p:nvPr/>
        </p:nvSpPr>
        <p:spPr>
          <a:xfrm>
            <a:off x="6848856" y="391363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141464" y="39136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7616952" y="3913632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attached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6739128" y="4407408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7" name="Text 115"/>
          <p:cNvSpPr/>
          <p:nvPr/>
        </p:nvSpPr>
        <p:spPr>
          <a:xfrm>
            <a:off x="6867144" y="4407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726680" y="452628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9" name="Text 117"/>
          <p:cNvSpPr/>
          <p:nvPr/>
        </p:nvSpPr>
        <p:spPr>
          <a:xfrm>
            <a:off x="7726680" y="45217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6739128" y="4956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read-only for auditors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501384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2" name="Text 120"/>
          <p:cNvSpPr/>
          <p:nvPr/>
        </p:nvSpPr>
        <p:spPr>
          <a:xfrm>
            <a:off x="6501384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501384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6.2 Audit Review Screen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6501384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figures with proofs and a locked reconciliation result.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9390888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6" name="Shape 124"/>
          <p:cNvSpPr/>
          <p:nvPr/>
        </p:nvSpPr>
        <p:spPr>
          <a:xfrm>
            <a:off x="9482328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7" name="Shape 125"/>
          <p:cNvSpPr/>
          <p:nvPr/>
        </p:nvSpPr>
        <p:spPr>
          <a:xfrm>
            <a:off x="10195560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Text 126"/>
          <p:cNvSpPr/>
          <p:nvPr/>
        </p:nvSpPr>
        <p:spPr>
          <a:xfrm>
            <a:off x="9592056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1112824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Shape 128"/>
          <p:cNvSpPr/>
          <p:nvPr/>
        </p:nvSpPr>
        <p:spPr>
          <a:xfrm>
            <a:off x="11228832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1" name="Shape 129"/>
          <p:cNvSpPr/>
          <p:nvPr/>
        </p:nvSpPr>
        <p:spPr>
          <a:xfrm>
            <a:off x="11329416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2" name="Shape 130"/>
          <p:cNvSpPr/>
          <p:nvPr/>
        </p:nvSpPr>
        <p:spPr>
          <a:xfrm>
            <a:off x="9482328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3" name="Shape 131"/>
          <p:cNvSpPr/>
          <p:nvPr/>
        </p:nvSpPr>
        <p:spPr>
          <a:xfrm>
            <a:off x="9482328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4" name="Shape 132"/>
          <p:cNvSpPr/>
          <p:nvPr/>
        </p:nvSpPr>
        <p:spPr>
          <a:xfrm>
            <a:off x="9635033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5" name="Text 133"/>
          <p:cNvSpPr/>
          <p:nvPr/>
        </p:nvSpPr>
        <p:spPr>
          <a:xfrm>
            <a:off x="9482328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1004102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7" name="Text 135"/>
          <p:cNvSpPr/>
          <p:nvPr/>
        </p:nvSpPr>
        <p:spPr>
          <a:xfrm>
            <a:off x="988832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138" name="Shape 136"/>
          <p:cNvSpPr/>
          <p:nvPr/>
        </p:nvSpPr>
        <p:spPr>
          <a:xfrm>
            <a:off x="10447020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9" name="Text 137"/>
          <p:cNvSpPr/>
          <p:nvPr/>
        </p:nvSpPr>
        <p:spPr>
          <a:xfrm>
            <a:off x="10294315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140" name="Shape 138"/>
          <p:cNvSpPr/>
          <p:nvPr/>
        </p:nvSpPr>
        <p:spPr>
          <a:xfrm>
            <a:off x="10853014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1" name="Text 139"/>
          <p:cNvSpPr/>
          <p:nvPr/>
        </p:nvSpPr>
        <p:spPr>
          <a:xfrm>
            <a:off x="10700309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142" name="Shape 140"/>
          <p:cNvSpPr/>
          <p:nvPr/>
        </p:nvSpPr>
        <p:spPr>
          <a:xfrm>
            <a:off x="11259007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3" name="Text 141"/>
          <p:cNvSpPr/>
          <p:nvPr/>
        </p:nvSpPr>
        <p:spPr>
          <a:xfrm>
            <a:off x="11106302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9482328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5" name="Text 143"/>
          <p:cNvSpPr/>
          <p:nvPr/>
        </p:nvSpPr>
        <p:spPr>
          <a:xfrm>
            <a:off x="9628632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 Decision</a:t>
            </a:r>
            <a:endParaRPr lang="en-US" sz="1050" dirty="0"/>
          </a:p>
        </p:txBody>
      </p:sp>
      <p:sp>
        <p:nvSpPr>
          <p:cNvPr id="146" name="Text 144"/>
          <p:cNvSpPr/>
          <p:nvPr/>
        </p:nvSpPr>
        <p:spPr>
          <a:xfrm>
            <a:off x="9628632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Week 1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11055096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8" name="Text 146"/>
          <p:cNvSpPr/>
          <p:nvPr/>
        </p:nvSpPr>
        <p:spPr>
          <a:xfrm>
            <a:off x="1105509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9628632" y="2432304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0" name="Text 148"/>
          <p:cNvSpPr/>
          <p:nvPr/>
        </p:nvSpPr>
        <p:spPr>
          <a:xfrm>
            <a:off x="9756648" y="25146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balances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9756648" y="27066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permitted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9628632" y="3072384"/>
            <a:ext cx="1737360" cy="384048"/>
          </a:xfrm>
          <a:prstGeom prst="roundRect">
            <a:avLst>
              <a:gd name="adj" fmla="val 16667"/>
            </a:avLst>
          </a:prstGeom>
          <a:solidFill>
            <a:srgbClr val="1E9E63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3" name="Text 151"/>
          <p:cNvSpPr/>
          <p:nvPr/>
        </p:nvSpPr>
        <p:spPr>
          <a:xfrm>
            <a:off x="9628632" y="30723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week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9628632" y="3584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(comment required)</a:t>
            </a:r>
            <a:endParaRPr lang="en-US" sz="680" dirty="0"/>
          </a:p>
        </p:txBody>
      </p:sp>
      <p:sp>
        <p:nvSpPr>
          <p:cNvPr id="155" name="Shape 153"/>
          <p:cNvSpPr/>
          <p:nvPr/>
        </p:nvSpPr>
        <p:spPr>
          <a:xfrm>
            <a:off x="9628632" y="3785616"/>
            <a:ext cx="1737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6" name="Text 154"/>
          <p:cNvSpPr/>
          <p:nvPr/>
        </p:nvSpPr>
        <p:spPr>
          <a:xfrm>
            <a:off x="9738360" y="385876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mandatory reason…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9628632" y="4389120"/>
            <a:ext cx="17373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D0453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8" name="Text 156"/>
          <p:cNvSpPr/>
          <p:nvPr/>
        </p:nvSpPr>
        <p:spPr>
          <a:xfrm>
            <a:off x="9628632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week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9390888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0" name="Text 158"/>
          <p:cNvSpPr/>
          <p:nvPr/>
        </p:nvSpPr>
        <p:spPr>
          <a:xfrm>
            <a:off x="9390888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9155887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 Auditor Decision</a:t>
            </a:r>
            <a:endParaRPr lang="en-US" sz="950" dirty="0"/>
          </a:p>
        </p:txBody>
      </p:sp>
      <p:sp>
        <p:nvSpPr>
          <p:cNvPr id="162" name="Text 160"/>
          <p:cNvSpPr/>
          <p:nvPr/>
        </p:nvSpPr>
        <p:spPr>
          <a:xfrm>
            <a:off x="9155887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is gated on balance; reject demands a written reason.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07 · MONTHLY CLOSE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Elder month-end review &amp; submission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Elder reviews every week of the month, confirms the reconciliation, then submits to Head Office — an action that freezes a snapshot version and locks the month.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Summary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week totals: income, banking, expenses.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Reconciliation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− expenses = banked amount.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to Head Office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snapshot and locks the month.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app.church.finance/monthly-close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862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Close — July 2026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Congregation · Elder review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637776" y="1837944"/>
            <a:ext cx="1700784" cy="292608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9637776" y="18333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Elder Review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86200" y="2459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  Week totals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86200" y="2715768"/>
            <a:ext cx="4734763" cy="310896"/>
          </a:xfrm>
          <a:prstGeom prst="roundRect">
            <a:avLst>
              <a:gd name="adj" fmla="val 11765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3977640" y="2715768"/>
            <a:ext cx="9469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924593" y="2715768"/>
            <a:ext cx="1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5966241" y="2715768"/>
            <a:ext cx="1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7007888" y="2715768"/>
            <a:ext cx="9469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954841" y="2715768"/>
            <a:ext cx="757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3886200" y="3026664"/>
            <a:ext cx="4734763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3977640" y="3026664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4924593" y="3026664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820" dirty="0"/>
          </a:p>
        </p:txBody>
      </p:sp>
      <p:sp>
        <p:nvSpPr>
          <p:cNvPr id="45" name="Text 43"/>
          <p:cNvSpPr/>
          <p:nvPr/>
        </p:nvSpPr>
        <p:spPr>
          <a:xfrm>
            <a:off x="5966241" y="3026664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1,000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7007888" y="3026664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300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7936553" y="3081528"/>
            <a:ext cx="629546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7936553" y="3076956"/>
            <a:ext cx="629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3886200" y="3355848"/>
            <a:ext cx="4734763" cy="329184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3977640" y="3355848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4924593" y="3355848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1,200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5966241" y="3355848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1,200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7007888" y="3355848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0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936553" y="3410712"/>
            <a:ext cx="629546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7936553" y="3406140"/>
            <a:ext cx="629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3886200" y="3685032"/>
            <a:ext cx="4734763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Text 55"/>
          <p:cNvSpPr/>
          <p:nvPr/>
        </p:nvSpPr>
        <p:spPr>
          <a:xfrm>
            <a:off x="3977640" y="3685032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4924593" y="3685032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980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5966241" y="3685032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980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7007888" y="3685032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150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7936553" y="3739896"/>
            <a:ext cx="629546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7936553" y="3735324"/>
            <a:ext cx="629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886200" y="4014216"/>
            <a:ext cx="4734763" cy="329184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3977640" y="4014216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4924593" y="4014216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1,100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5966241" y="4014216"/>
            <a:ext cx="1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1,100</a:t>
            </a:r>
            <a:endParaRPr lang="en-US" sz="820" dirty="0"/>
          </a:p>
        </p:txBody>
      </p:sp>
      <p:sp>
        <p:nvSpPr>
          <p:cNvPr id="67" name="Text 65"/>
          <p:cNvSpPr/>
          <p:nvPr/>
        </p:nvSpPr>
        <p:spPr>
          <a:xfrm>
            <a:off x="7007888" y="4014216"/>
            <a:ext cx="94695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2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250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7936553" y="4069080"/>
            <a:ext cx="629546" cy="219456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Text 67"/>
          <p:cNvSpPr/>
          <p:nvPr/>
        </p:nvSpPr>
        <p:spPr>
          <a:xfrm>
            <a:off x="7936553" y="4064508"/>
            <a:ext cx="6295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3886200" y="4343400"/>
            <a:ext cx="4734763" cy="347472"/>
          </a:xfrm>
          <a:prstGeom prst="roundRect">
            <a:avLst>
              <a:gd name="adj" fmla="val 10526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3977640" y="4343400"/>
            <a:ext cx="9469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924593" y="4343400"/>
            <a:ext cx="1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4,280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966241" y="4343400"/>
            <a:ext cx="1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4,280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007888" y="4343400"/>
            <a:ext cx="9469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700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895283" y="2459736"/>
            <a:ext cx="266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7.2  Reconciliation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895283" y="2734056"/>
            <a:ext cx="2662733" cy="1371600"/>
          </a:xfrm>
          <a:prstGeom prst="roundRect">
            <a:avLst>
              <a:gd name="adj" fmla="val 5333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9078163" y="2880360"/>
            <a:ext cx="1382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186416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4,280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078163" y="3191256"/>
            <a:ext cx="13825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expenses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186416" y="31912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 700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078163" y="3538728"/>
            <a:ext cx="2296973" cy="0"/>
          </a:xfrm>
          <a:prstGeom prst="line">
            <a:avLst/>
          </a:prstGeom>
          <a:noFill/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2" name="Text 80"/>
          <p:cNvSpPr/>
          <p:nvPr/>
        </p:nvSpPr>
        <p:spPr>
          <a:xfrm>
            <a:off x="9078163" y="3611880"/>
            <a:ext cx="13825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amount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186416" y="3593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3,580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8895283" y="4288536"/>
            <a:ext cx="26627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  Submit to Head Office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895283" y="4562856"/>
            <a:ext cx="2662733" cy="713232"/>
          </a:xfrm>
          <a:prstGeom prst="roundRect">
            <a:avLst>
              <a:gd name="adj" fmla="val 10256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9041587" y="4636008"/>
            <a:ext cx="2370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freezes a snapshot version and locks July for correction-only edits.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895283" y="5385816"/>
            <a:ext cx="2662733" cy="402336"/>
          </a:xfrm>
          <a:prstGeom prst="roundRect">
            <a:avLst>
              <a:gd name="adj" fmla="val 15909"/>
            </a:avLst>
          </a:prstGeom>
          <a:solidFill>
            <a:srgbClr val="C9A227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8895283" y="5385816"/>
            <a:ext cx="266273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month &amp; create snapshot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Text 88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7.1–7.3 Monthly Close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desktop view: locked weekly totals, the month reconciliation, and the snapshot-creating submission.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08 · CORRECTIONS &amp; EXCEPTIONS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 unlock &amp; resubmit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submitted month needs a fix, Head Office raises a correction request. The original snapshot is preserved and a new version is created on resubmission.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 Requests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queue of raised requests.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 Detail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Reason, requested by and date.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Resubmission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reconcile and resubmit a new version.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app.church.finance/corrections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49624" y="17647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  Correction Requests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9624" y="2112264"/>
            <a:ext cx="3314334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2F55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49624" y="2112264"/>
            <a:ext cx="54864" cy="658368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4032504" y="2203704"/>
            <a:ext cx="2948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July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032504" y="2423160"/>
            <a:ext cx="2948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variance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12398" y="233172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112398" y="23271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849624" y="2880360"/>
            <a:ext cx="3314334" cy="658368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Shape 37"/>
          <p:cNvSpPr/>
          <p:nvPr/>
        </p:nvSpPr>
        <p:spPr>
          <a:xfrm>
            <a:off x="3849624" y="2880360"/>
            <a:ext cx="54864" cy="658368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032504" y="2971800"/>
            <a:ext cx="2948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· June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32504" y="3191256"/>
            <a:ext cx="2948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proof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12398" y="3099816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112398" y="30952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849624" y="3648456"/>
            <a:ext cx="3314334" cy="658368"/>
          </a:xfrm>
          <a:prstGeom prst="roundRect">
            <a:avLst>
              <a:gd name="adj" fmla="val 8333"/>
            </a:avLst>
          </a:prstGeom>
          <a:solidFill>
            <a:srgbClr val="F5F7FB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Shape 43"/>
          <p:cNvSpPr/>
          <p:nvPr/>
        </p:nvSpPr>
        <p:spPr>
          <a:xfrm>
            <a:off x="3849624" y="3648456"/>
            <a:ext cx="54864" cy="658368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4032504" y="3739896"/>
            <a:ext cx="29485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· June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32504" y="3959352"/>
            <a:ext cx="2948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query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12398" y="38679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112398" y="38633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438278" y="1764792"/>
            <a:ext cx="3845418" cy="3904488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7621158" y="1892808"/>
            <a:ext cx="3479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  Correction Detail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21158" y="2148840"/>
            <a:ext cx="3479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Congregation · July 2026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21158" y="24780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621158" y="2642616"/>
            <a:ext cx="347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variance of R50 on Week 1 — cash pending line understated.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7621158" y="3099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621158" y="3264408"/>
            <a:ext cx="347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· N. Khumalo</a:t>
            </a:r>
            <a:endParaRPr lang="en-US" sz="860" dirty="0"/>
          </a:p>
        </p:txBody>
      </p:sp>
      <p:sp>
        <p:nvSpPr>
          <p:cNvPr id="57" name="Text 55"/>
          <p:cNvSpPr/>
          <p:nvPr/>
        </p:nvSpPr>
        <p:spPr>
          <a:xfrm>
            <a:off x="7621158" y="3557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RAISED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621158" y="3721608"/>
            <a:ext cx="347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July 2026</a:t>
            </a:r>
            <a:endParaRPr lang="en-US" sz="860" dirty="0"/>
          </a:p>
        </p:txBody>
      </p:sp>
      <p:sp>
        <p:nvSpPr>
          <p:cNvPr id="59" name="Text 57"/>
          <p:cNvSpPr/>
          <p:nvPr/>
        </p:nvSpPr>
        <p:spPr>
          <a:xfrm>
            <a:off x="7621158" y="4014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VERSION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621158" y="4178808"/>
            <a:ext cx="347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snapshot preserved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7621158" y="4471416"/>
            <a:ext cx="347965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7621158" y="4581144"/>
            <a:ext cx="34796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  Resubmission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621158" y="4892040"/>
            <a:ext cx="1037966" cy="457200"/>
          </a:xfrm>
          <a:prstGeom prst="roundRect">
            <a:avLst>
              <a:gd name="adj" fmla="val 12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7730886" y="5020056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7730886" y="5010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986918" y="4892040"/>
            <a:ext cx="6722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677412" y="48920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842004" y="4892040"/>
            <a:ext cx="1037966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8951732" y="5020056"/>
            <a:ext cx="201168" cy="201168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8951732" y="5010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207764" y="4892040"/>
            <a:ext cx="6722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898258" y="48920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5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062850" y="4892040"/>
            <a:ext cx="1037966" cy="457200"/>
          </a:xfrm>
          <a:prstGeom prst="roundRect">
            <a:avLst>
              <a:gd name="adj" fmla="val 12000"/>
            </a:avLst>
          </a:prstGeom>
          <a:solidFill>
            <a:srgbClr val="F5F7FB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4" name="Shape 72"/>
          <p:cNvSpPr/>
          <p:nvPr/>
        </p:nvSpPr>
        <p:spPr>
          <a:xfrm>
            <a:off x="10172578" y="5020056"/>
            <a:ext cx="201168" cy="201168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Text 73"/>
          <p:cNvSpPr/>
          <p:nvPr/>
        </p:nvSpPr>
        <p:spPr>
          <a:xfrm>
            <a:off x="10172578" y="5010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428610" y="4892040"/>
            <a:ext cx="6722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621158" y="5495544"/>
            <a:ext cx="3479658" cy="402336"/>
          </a:xfrm>
          <a:prstGeom prst="roundRect">
            <a:avLst>
              <a:gd name="adj" fmla="val 15909"/>
            </a:avLst>
          </a:prstGeom>
          <a:solidFill>
            <a:srgbClr val="C9A227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7621158" y="5495544"/>
            <a:ext cx="34796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 as new version (v2)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8.1–8.3 Corrections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queue, full correction detail with preserved snapshot, and a guided fix-reconcile-resubmit path.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09 · MESSAGING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 &amp; internal congregation chat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contexts kept separate. Head Office chat handles queries, corrections and guidance. Internal congregation chat is for the committee only and is never visible to Head Office.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 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corrections and guidance.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Congregation Chat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Elder, Chairperson, Auditor, Treasurer only.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546811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86460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40080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50138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660196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75488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75488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490758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475488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531357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516087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71957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556686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612556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597286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531559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37885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4754880" y="1664208"/>
            <a:ext cx="2029968" cy="658368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490118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0118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Corrections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2764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32764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901184" y="2432304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5029200" y="2459736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shows a R50 variance — please review the cash pending line.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5029200" y="288950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· 09:12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5212080" y="3108960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5340096" y="3136392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Thanks, updating the deposit amount now.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5340096" y="356616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· 09:20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901184" y="3785616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5029200" y="3813048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v2 received. Correction closed.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5029200" y="424281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 · 10:04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01184" y="46817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5029200" y="46817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Message…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72784" y="4700016"/>
            <a:ext cx="347472" cy="347472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6272784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466344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66344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9.1 Head Office Chat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66344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correction thread tied to the congregation's submissions.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955280" y="1371600"/>
            <a:ext cx="2212848" cy="4370832"/>
          </a:xfrm>
          <a:prstGeom prst="roundRect">
            <a:avLst>
              <a:gd name="adj" fmla="val 8264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2" name="Shape 60"/>
          <p:cNvSpPr/>
          <p:nvPr/>
        </p:nvSpPr>
        <p:spPr>
          <a:xfrm>
            <a:off x="8046720" y="1463040"/>
            <a:ext cx="2029968" cy="4187952"/>
          </a:xfrm>
          <a:prstGeom prst="roundRect">
            <a:avLst>
              <a:gd name="adj" fmla="val 4955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3" name="Shape 61"/>
          <p:cNvSpPr/>
          <p:nvPr/>
        </p:nvSpPr>
        <p:spPr>
          <a:xfrm>
            <a:off x="8759952" y="1421892"/>
            <a:ext cx="603504" cy="100584"/>
          </a:xfrm>
          <a:prstGeom prst="roundRect">
            <a:avLst>
              <a:gd name="adj" fmla="val 500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8156448" y="14813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692640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9793224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Shape 65"/>
          <p:cNvSpPr/>
          <p:nvPr/>
        </p:nvSpPr>
        <p:spPr>
          <a:xfrm>
            <a:off x="9893808" y="1531620"/>
            <a:ext cx="50292" cy="50292"/>
          </a:xfrm>
          <a:prstGeom prst="ellipse">
            <a:avLst/>
          </a:prstGeom>
          <a:solidFill>
            <a:srgbClr val="8592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8" name="Shape 66"/>
          <p:cNvSpPr/>
          <p:nvPr/>
        </p:nvSpPr>
        <p:spPr>
          <a:xfrm>
            <a:off x="8046720" y="5193792"/>
            <a:ext cx="2029968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8046720" y="5193792"/>
            <a:ext cx="2029968" cy="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8199425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8046720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8605418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845271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9011412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Text 73"/>
          <p:cNvSpPr/>
          <p:nvPr/>
        </p:nvSpPr>
        <p:spPr>
          <a:xfrm>
            <a:off x="8858707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9417406" y="5285232"/>
            <a:ext cx="100584" cy="100584"/>
          </a:xfrm>
          <a:prstGeom prst="ellipse">
            <a:avLst/>
          </a:prstGeom>
          <a:solidFill>
            <a:srgbClr val="C9D3E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9264701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9823399" y="528523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9670694" y="5431536"/>
            <a:ext cx="4059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046720" y="1664208"/>
            <a:ext cx="2029968" cy="658368"/>
          </a:xfrm>
          <a:prstGeom prst="rect">
            <a:avLst/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Text 79"/>
          <p:cNvSpPr/>
          <p:nvPr/>
        </p:nvSpPr>
        <p:spPr>
          <a:xfrm>
            <a:off x="8193024" y="17373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Committee Chat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193024" y="200253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not shared with HO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619488" y="1828800"/>
            <a:ext cx="310896" cy="310896"/>
          </a:xfrm>
          <a:prstGeom prst="ellipse">
            <a:avLst/>
          </a:prstGeom>
          <a:solidFill>
            <a:srgbClr val="2F5596"/>
          </a:solidFill>
          <a:ln w="12700">
            <a:solidFill>
              <a:srgbClr val="E7C76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4" name="Text 82"/>
          <p:cNvSpPr/>
          <p:nvPr/>
        </p:nvSpPr>
        <p:spPr>
          <a:xfrm>
            <a:off x="9619488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193024" y="2432304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Text 84"/>
          <p:cNvSpPr/>
          <p:nvPr/>
        </p:nvSpPr>
        <p:spPr>
          <a:xfrm>
            <a:off x="8193024" y="24277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Private to congregation committee</a:t>
            </a:r>
            <a:endParaRPr lang="en-US" sz="680" dirty="0"/>
          </a:p>
        </p:txBody>
      </p:sp>
      <p:sp>
        <p:nvSpPr>
          <p:cNvPr id="87" name="Shape 85"/>
          <p:cNvSpPr/>
          <p:nvPr/>
        </p:nvSpPr>
        <p:spPr>
          <a:xfrm>
            <a:off x="8193024" y="2816352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8" name="Text 86"/>
          <p:cNvSpPr/>
          <p:nvPr/>
        </p:nvSpPr>
        <p:spPr>
          <a:xfrm>
            <a:off x="8321040" y="2843784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captured — can the auditor review before Sunday PM?</a:t>
            </a:r>
            <a:endParaRPr lang="en-US" sz="760" dirty="0"/>
          </a:p>
        </p:txBody>
      </p:sp>
      <p:sp>
        <p:nvSpPr>
          <p:cNvPr id="89" name="Text 87"/>
          <p:cNvSpPr/>
          <p:nvPr/>
        </p:nvSpPr>
        <p:spPr>
          <a:xfrm>
            <a:off x="8321040" y="327355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· 08:40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8193024" y="3493008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8321040" y="352044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I'll approve once banking proof is in.</a:t>
            </a:r>
            <a:endParaRPr lang="en-US" sz="760" dirty="0"/>
          </a:p>
        </p:txBody>
      </p:sp>
      <p:sp>
        <p:nvSpPr>
          <p:cNvPr id="92" name="Text 90"/>
          <p:cNvSpPr/>
          <p:nvPr/>
        </p:nvSpPr>
        <p:spPr>
          <a:xfrm>
            <a:off x="8321040" y="3950208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· 08:52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8503920" y="4169664"/>
            <a:ext cx="1207008" cy="457200"/>
          </a:xfrm>
          <a:prstGeom prst="roundRect">
            <a:avLst>
              <a:gd name="adj" fmla="val 18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8631936" y="4197096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slip uploaded ✓</a:t>
            </a:r>
            <a:endParaRPr lang="en-US" sz="760" dirty="0"/>
          </a:p>
        </p:txBody>
      </p:sp>
      <p:sp>
        <p:nvSpPr>
          <p:cNvPr id="95" name="Text 93"/>
          <p:cNvSpPr/>
          <p:nvPr/>
        </p:nvSpPr>
        <p:spPr>
          <a:xfrm>
            <a:off x="8631936" y="462686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(Treasurer) · 09:15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8193024" y="46817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8321040" y="4681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committee…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9564624" y="4700016"/>
            <a:ext cx="347472" cy="347472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9" name="Text 97"/>
          <p:cNvSpPr/>
          <p:nvPr/>
        </p:nvSpPr>
        <p:spPr>
          <a:xfrm>
            <a:off x="9564624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955280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7955280" y="59024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955280" y="618134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9.2 Internal Congregation Chat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7955280" y="6391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Committee-only space (Elder, Chairperson, Auditor, Treasurer).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11018520" y="1920240"/>
            <a:ext cx="566928" cy="3108960"/>
          </a:xfrm>
          <a:prstGeom prst="roundRect">
            <a:avLst>
              <a:gd name="adj" fmla="val 16129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5" name="Text 103"/>
          <p:cNvSpPr/>
          <p:nvPr/>
        </p:nvSpPr>
        <p:spPr>
          <a:xfrm rot="5400000">
            <a:off x="9082735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10 · REPORTING &amp; ANALYTICS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Hierarchy dashboards &amp; drill-down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the primary reporting engine. Every hierarchy level gets its own dashboard, with exports to CSV, Excel and PDF, and SharePoint as a publishing destination.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10.1–10.6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dashboards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 → Head Office &amp; priestship census.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Drill-down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hierarchy from national to a single week.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Excel · PDF, scoped to permissions.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app.church.finance/analytics/overseership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862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Overseership Dashboard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2057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Overseership · July 2026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86200" y="2313432"/>
            <a:ext cx="843077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886200" y="2308860"/>
            <a:ext cx="84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820717" y="2313432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820717" y="23088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Apostolate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698541" y="2313432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5698541" y="2308860"/>
            <a:ext cx="6729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62979" y="2313432"/>
            <a:ext cx="843077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6462979" y="2308860"/>
            <a:ext cx="8430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Apostleship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397496" y="2313432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7397496" y="23088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Overseership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388706" y="2313432"/>
            <a:ext cx="729691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8388706" y="2308860"/>
            <a:ext cx="7296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Eldership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209837" y="2313432"/>
            <a:ext cx="899770" cy="237744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9209837" y="2308860"/>
            <a:ext cx="899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734056"/>
            <a:ext cx="175336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3886200" y="2734056"/>
            <a:ext cx="54864" cy="713232"/>
          </a:xfrm>
          <a:prstGeom prst="rect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4032504" y="2825496"/>
            <a:ext cx="157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182k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4032504" y="3209544"/>
            <a:ext cx="1570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MTD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5785866" y="2734056"/>
            <a:ext cx="175336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50"/>
          <p:cNvSpPr/>
          <p:nvPr/>
        </p:nvSpPr>
        <p:spPr>
          <a:xfrm>
            <a:off x="5785866" y="2734056"/>
            <a:ext cx="54864" cy="713232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5932170" y="2825496"/>
            <a:ext cx="157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9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178k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5932170" y="3209544"/>
            <a:ext cx="1570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685532" y="2734056"/>
            <a:ext cx="175336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Shape 54"/>
          <p:cNvSpPr/>
          <p:nvPr/>
        </p:nvSpPr>
        <p:spPr>
          <a:xfrm>
            <a:off x="7685532" y="2734056"/>
            <a:ext cx="54864" cy="713232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Text 55"/>
          <p:cNvSpPr/>
          <p:nvPr/>
        </p:nvSpPr>
        <p:spPr>
          <a:xfrm>
            <a:off x="7831836" y="2825496"/>
            <a:ext cx="157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08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4k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7831836" y="3209544"/>
            <a:ext cx="1570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9585198" y="2734056"/>
            <a:ext cx="175336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Shape 58"/>
          <p:cNvSpPr/>
          <p:nvPr/>
        </p:nvSpPr>
        <p:spPr>
          <a:xfrm>
            <a:off x="9585198" y="2734056"/>
            <a:ext cx="54864" cy="713232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9731502" y="2825496"/>
            <a:ext cx="157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9731502" y="3209544"/>
            <a:ext cx="15704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3886200" y="3611880"/>
            <a:ext cx="4576938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4" name="Text 62"/>
          <p:cNvSpPr/>
          <p:nvPr/>
        </p:nvSpPr>
        <p:spPr>
          <a:xfrm>
            <a:off x="4050792" y="3721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income vs banked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251960" y="4411980"/>
            <a:ext cx="256032" cy="800100"/>
          </a:xfrm>
          <a:prstGeom prst="roundRect">
            <a:avLst>
              <a:gd name="adj" fmla="val 71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4544568" y="4434840"/>
            <a:ext cx="256032" cy="777240"/>
          </a:xfrm>
          <a:prstGeom prst="roundRect">
            <a:avLst>
              <a:gd name="adj" fmla="val 714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4251960" y="5257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259034" y="4274820"/>
            <a:ext cx="256032" cy="937260"/>
          </a:xfrm>
          <a:prstGeom prst="roundRect">
            <a:avLst>
              <a:gd name="adj" fmla="val 71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5551642" y="4297680"/>
            <a:ext cx="256032" cy="914400"/>
          </a:xfrm>
          <a:prstGeom prst="roundRect">
            <a:avLst>
              <a:gd name="adj" fmla="val 714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5259034" y="5257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266109" y="4526280"/>
            <a:ext cx="256032" cy="685800"/>
          </a:xfrm>
          <a:prstGeom prst="roundRect">
            <a:avLst>
              <a:gd name="adj" fmla="val 71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2" name="Shape 70"/>
          <p:cNvSpPr/>
          <p:nvPr/>
        </p:nvSpPr>
        <p:spPr>
          <a:xfrm>
            <a:off x="6558717" y="4549140"/>
            <a:ext cx="256032" cy="662940"/>
          </a:xfrm>
          <a:prstGeom prst="roundRect">
            <a:avLst>
              <a:gd name="adj" fmla="val 714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6266109" y="5257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7273183" y="4183380"/>
            <a:ext cx="256032" cy="1028700"/>
          </a:xfrm>
          <a:prstGeom prst="roundRect">
            <a:avLst>
              <a:gd name="adj" fmla="val 7143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7565791" y="4229100"/>
            <a:ext cx="256032" cy="982980"/>
          </a:xfrm>
          <a:prstGeom prst="roundRect">
            <a:avLst>
              <a:gd name="adj" fmla="val 714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7273183" y="52578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817218" y="3721608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Text 76"/>
          <p:cNvSpPr/>
          <p:nvPr/>
        </p:nvSpPr>
        <p:spPr>
          <a:xfrm>
            <a:off x="6817218" y="37170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Income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7640178" y="372160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Text 78"/>
          <p:cNvSpPr/>
          <p:nvPr/>
        </p:nvSpPr>
        <p:spPr>
          <a:xfrm>
            <a:off x="7640178" y="37170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Banked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8682594" y="3611880"/>
            <a:ext cx="287542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2" name="Text 80"/>
          <p:cNvSpPr/>
          <p:nvPr/>
        </p:nvSpPr>
        <p:spPr>
          <a:xfrm>
            <a:off x="8828898" y="3721608"/>
            <a:ext cx="2601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Priestship census context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828898" y="4069080"/>
            <a:ext cx="205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Income-earning</a:t>
            </a:r>
            <a:endParaRPr lang="en-US" sz="760" dirty="0"/>
          </a:p>
        </p:txBody>
      </p:sp>
      <p:sp>
        <p:nvSpPr>
          <p:cNvPr id="84" name="Text 82"/>
          <p:cNvSpPr/>
          <p:nvPr/>
        </p:nvSpPr>
        <p:spPr>
          <a:xfrm>
            <a:off x="11009376" y="40690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60" dirty="0"/>
          </a:p>
        </p:txBody>
      </p:sp>
      <p:sp>
        <p:nvSpPr>
          <p:cNvPr id="85" name="Shape 83"/>
          <p:cNvSpPr/>
          <p:nvPr/>
        </p:nvSpPr>
        <p:spPr>
          <a:xfrm>
            <a:off x="8828898" y="4251960"/>
            <a:ext cx="2582814" cy="1280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Shape 84"/>
          <p:cNvSpPr/>
          <p:nvPr/>
        </p:nvSpPr>
        <p:spPr>
          <a:xfrm>
            <a:off x="8828898" y="4251960"/>
            <a:ext cx="1084782" cy="128016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8828898" y="4526280"/>
            <a:ext cx="205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&lt;60</a:t>
            </a:r>
            <a:endParaRPr lang="en-US" sz="760" dirty="0"/>
          </a:p>
        </p:txBody>
      </p:sp>
      <p:sp>
        <p:nvSpPr>
          <p:cNvPr id="88" name="Text 86"/>
          <p:cNvSpPr/>
          <p:nvPr/>
        </p:nvSpPr>
        <p:spPr>
          <a:xfrm>
            <a:off x="11009376" y="45262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760" dirty="0"/>
          </a:p>
        </p:txBody>
      </p:sp>
      <p:sp>
        <p:nvSpPr>
          <p:cNvPr id="89" name="Shape 87"/>
          <p:cNvSpPr/>
          <p:nvPr/>
        </p:nvSpPr>
        <p:spPr>
          <a:xfrm>
            <a:off x="8828898" y="4709160"/>
            <a:ext cx="2582814" cy="1280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Shape 88"/>
          <p:cNvSpPr/>
          <p:nvPr/>
        </p:nvSpPr>
        <p:spPr>
          <a:xfrm>
            <a:off x="8828898" y="4709160"/>
            <a:ext cx="619875" cy="128016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8828898" y="4983480"/>
            <a:ext cx="205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&lt;35</a:t>
            </a:r>
            <a:endParaRPr lang="en-US" sz="760" dirty="0"/>
          </a:p>
        </p:txBody>
      </p:sp>
      <p:sp>
        <p:nvSpPr>
          <p:cNvPr id="92" name="Text 90"/>
          <p:cNvSpPr/>
          <p:nvPr/>
        </p:nvSpPr>
        <p:spPr>
          <a:xfrm>
            <a:off x="11009376" y="49834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60" dirty="0"/>
          </a:p>
        </p:txBody>
      </p:sp>
      <p:sp>
        <p:nvSpPr>
          <p:cNvPr id="93" name="Shape 91"/>
          <p:cNvSpPr/>
          <p:nvPr/>
        </p:nvSpPr>
        <p:spPr>
          <a:xfrm>
            <a:off x="8828898" y="5166360"/>
            <a:ext cx="2582814" cy="1280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Shape 92"/>
          <p:cNvSpPr/>
          <p:nvPr/>
        </p:nvSpPr>
        <p:spPr>
          <a:xfrm>
            <a:off x="8828898" y="5166360"/>
            <a:ext cx="516563" cy="12801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5" name="Text 93"/>
          <p:cNvSpPr/>
          <p:nvPr/>
        </p:nvSpPr>
        <p:spPr>
          <a:xfrm>
            <a:off x="8828898" y="5440680"/>
            <a:ext cx="20524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60+</a:t>
            </a:r>
            <a:endParaRPr lang="en-US" sz="760" dirty="0"/>
          </a:p>
        </p:txBody>
      </p:sp>
      <p:sp>
        <p:nvSpPr>
          <p:cNvPr id="96" name="Text 94"/>
          <p:cNvSpPr/>
          <p:nvPr/>
        </p:nvSpPr>
        <p:spPr>
          <a:xfrm>
            <a:off x="11009376" y="544068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760" dirty="0"/>
          </a:p>
        </p:txBody>
      </p:sp>
      <p:sp>
        <p:nvSpPr>
          <p:cNvPr id="97" name="Shape 95"/>
          <p:cNvSpPr/>
          <p:nvPr/>
        </p:nvSpPr>
        <p:spPr>
          <a:xfrm>
            <a:off x="8828898" y="5623560"/>
            <a:ext cx="2582814" cy="12801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8" name="Shape 96"/>
          <p:cNvSpPr/>
          <p:nvPr/>
        </p:nvSpPr>
        <p:spPr>
          <a:xfrm>
            <a:off x="8828898" y="5623560"/>
            <a:ext cx="361594" cy="128016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9" name="Shape 97"/>
          <p:cNvSpPr/>
          <p:nvPr/>
        </p:nvSpPr>
        <p:spPr>
          <a:xfrm>
            <a:off x="8828898" y="5120640"/>
            <a:ext cx="2582814" cy="329184"/>
          </a:xfrm>
          <a:prstGeom prst="roundRect">
            <a:avLst>
              <a:gd name="adj" fmla="val 19444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0" name="Text 98"/>
          <p:cNvSpPr/>
          <p:nvPr/>
        </p:nvSpPr>
        <p:spPr>
          <a:xfrm>
            <a:off x="8828898" y="5120640"/>
            <a:ext cx="25828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▾  CSV · Excel · PDF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2" name="Text 100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10.1–10.6 Hierarchy Dashboards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selector, KPI band, income-vs-banked trend and census participation — all exportable.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11 · IMPORTS &amp; MASTER DATA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Office bulk onboarding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will not scale to thousands of congregations. Head Office uploads congregations, users and officers in bulk, previews validation, then commits.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11.1–11.3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Bulk Upload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Congregations, users and officers.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Validation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warnings and duplicates before commit.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and fix files before structural change.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app.church.finance/imports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8862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Congregation Import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20574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#0294 · congregations.csv · 1,284 rows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86200" y="2386584"/>
            <a:ext cx="905366" cy="384048"/>
          </a:xfrm>
          <a:prstGeom prst="roundRect">
            <a:avLst>
              <a:gd name="adj" fmla="val 14286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3886200" y="2386584"/>
            <a:ext cx="905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883006" y="2386584"/>
            <a:ext cx="905366" cy="384048"/>
          </a:xfrm>
          <a:prstGeom prst="roundRect">
            <a:avLst>
              <a:gd name="adj" fmla="val 14286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883006" y="2386584"/>
            <a:ext cx="905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Stage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879811" y="2386584"/>
            <a:ext cx="905366" cy="384048"/>
          </a:xfrm>
          <a:prstGeom prst="roundRect">
            <a:avLst>
              <a:gd name="adj" fmla="val 14286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5879811" y="2386584"/>
            <a:ext cx="905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876617" y="2386584"/>
            <a:ext cx="905366" cy="384048"/>
          </a:xfrm>
          <a:prstGeom prst="roundRect">
            <a:avLst>
              <a:gd name="adj" fmla="val 14286"/>
            </a:avLst>
          </a:prstGeom>
          <a:solidFill>
            <a:srgbClr val="F5F7FB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6876617" y="2386584"/>
            <a:ext cx="905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Confirm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7873423" y="2386584"/>
            <a:ext cx="905366" cy="384048"/>
          </a:xfrm>
          <a:prstGeom prst="roundRect">
            <a:avLst>
              <a:gd name="adj" fmla="val 14286"/>
            </a:avLst>
          </a:prstGeom>
          <a:solidFill>
            <a:srgbClr val="F5F7FB"/>
          </a:solidFill>
          <a:ln w="9525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7873423" y="2386584"/>
            <a:ext cx="905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Import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886200" y="2953512"/>
            <a:ext cx="2840858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 w="12700">
            <a:solidFill>
              <a:srgbClr val="2F5596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5105461" y="3136392"/>
            <a:ext cx="402336" cy="402336"/>
          </a:xfrm>
          <a:prstGeom prst="ellipse">
            <a:avLst/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5105461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⭱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886200" y="3611880"/>
            <a:ext cx="2840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congregations.csv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86200" y="3794760"/>
            <a:ext cx="2840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· staged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886200" y="4233672"/>
            <a:ext cx="284085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3886200" y="4233672"/>
            <a:ext cx="54864" cy="457200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4069080" y="4233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9E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1,201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92040" y="4233672"/>
            <a:ext cx="174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886200" y="4764024"/>
            <a:ext cx="284085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3886200" y="4764024"/>
            <a:ext cx="54864" cy="4572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4069080" y="47640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8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892040" y="4764024"/>
            <a:ext cx="174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86200" y="5294376"/>
            <a:ext cx="284085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7" name="Shape 55"/>
          <p:cNvSpPr/>
          <p:nvPr/>
        </p:nvSpPr>
        <p:spPr>
          <a:xfrm>
            <a:off x="3886200" y="5294376"/>
            <a:ext cx="54864" cy="457200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4069080" y="5294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045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892040" y="5294376"/>
            <a:ext cx="1743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dupes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001378" y="2953512"/>
            <a:ext cx="4556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11.4  Validation report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001378" y="3209544"/>
            <a:ext cx="4556638" cy="292608"/>
          </a:xfrm>
          <a:prstGeom prst="roundRect">
            <a:avLst>
              <a:gd name="adj" fmla="val 12500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7092818" y="3209544"/>
            <a:ext cx="5467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639614" y="3209544"/>
            <a:ext cx="15492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 code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188871" y="3209544"/>
            <a:ext cx="16403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829261" y="3209544"/>
            <a:ext cx="8201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001378" y="3502152"/>
            <a:ext cx="455663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7092818" y="3502152"/>
            <a:ext cx="546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014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7639614" y="3502152"/>
            <a:ext cx="1549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CG-NTH-014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9188871" y="3502152"/>
            <a:ext cx="164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within apostleship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10810973" y="3566160"/>
            <a:ext cx="673891" cy="219456"/>
          </a:xfrm>
          <a:prstGeom prst="roundRect">
            <a:avLst>
              <a:gd name="adj" fmla="val 500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9"/>
          <p:cNvSpPr/>
          <p:nvPr/>
        </p:nvSpPr>
        <p:spPr>
          <a:xfrm>
            <a:off x="10810973" y="3561588"/>
            <a:ext cx="6738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7001378" y="3867912"/>
            <a:ext cx="4556638" cy="36576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7092818" y="3867912"/>
            <a:ext cx="546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067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7639614" y="3867912"/>
            <a:ext cx="1549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CG-NTH-067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9188871" y="3867912"/>
            <a:ext cx="164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eldership_code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10810973" y="3931920"/>
            <a:ext cx="673891" cy="219456"/>
          </a:xfrm>
          <a:prstGeom prst="roundRect">
            <a:avLst>
              <a:gd name="adj" fmla="val 500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7" name="Text 75"/>
          <p:cNvSpPr/>
          <p:nvPr/>
        </p:nvSpPr>
        <p:spPr>
          <a:xfrm>
            <a:off x="10810973" y="3927348"/>
            <a:ext cx="6738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7001378" y="4233672"/>
            <a:ext cx="455663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7092818" y="4233672"/>
            <a:ext cx="546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7639614" y="4233672"/>
            <a:ext cx="1549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CG-CEN-132</a:t>
            </a:r>
            <a:endParaRPr lang="en-US" sz="780" dirty="0"/>
          </a:p>
        </p:txBody>
      </p:sp>
      <p:sp>
        <p:nvSpPr>
          <p:cNvPr id="81" name="Text 79"/>
          <p:cNvSpPr/>
          <p:nvPr/>
        </p:nvSpPr>
        <p:spPr>
          <a:xfrm>
            <a:off x="9188871" y="4233672"/>
            <a:ext cx="164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postal_code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10810973" y="4297680"/>
            <a:ext cx="673891" cy="219456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10810973" y="4293108"/>
            <a:ext cx="6738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7001378" y="4599432"/>
            <a:ext cx="4556638" cy="36576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5" name="Text 83"/>
          <p:cNvSpPr/>
          <p:nvPr/>
        </p:nvSpPr>
        <p:spPr>
          <a:xfrm>
            <a:off x="7092818" y="4599432"/>
            <a:ext cx="546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780" dirty="0"/>
          </a:p>
        </p:txBody>
      </p:sp>
      <p:sp>
        <p:nvSpPr>
          <p:cNvPr id="86" name="Text 84"/>
          <p:cNvSpPr/>
          <p:nvPr/>
        </p:nvSpPr>
        <p:spPr>
          <a:xfrm>
            <a:off x="7639614" y="4599432"/>
            <a:ext cx="1549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CG-CST-209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9188871" y="4599432"/>
            <a:ext cx="164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out of range</a:t>
            </a:r>
            <a:endParaRPr lang="en-US" sz="760" dirty="0"/>
          </a:p>
        </p:txBody>
      </p:sp>
      <p:sp>
        <p:nvSpPr>
          <p:cNvPr id="88" name="Shape 86"/>
          <p:cNvSpPr/>
          <p:nvPr/>
        </p:nvSpPr>
        <p:spPr>
          <a:xfrm>
            <a:off x="10810973" y="4663440"/>
            <a:ext cx="673891" cy="219456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Text 87"/>
          <p:cNvSpPr/>
          <p:nvPr/>
        </p:nvSpPr>
        <p:spPr>
          <a:xfrm>
            <a:off x="10810973" y="4658868"/>
            <a:ext cx="6738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7001378" y="4965192"/>
            <a:ext cx="455663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7092818" y="4965192"/>
            <a:ext cx="5467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7639614" y="4965192"/>
            <a:ext cx="15492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72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CG-EST-274</a:t>
            </a:r>
            <a:endParaRPr lang="en-US" sz="780" dirty="0"/>
          </a:p>
        </p:txBody>
      </p:sp>
      <p:sp>
        <p:nvSpPr>
          <p:cNvPr id="93" name="Text 91"/>
          <p:cNvSpPr/>
          <p:nvPr/>
        </p:nvSpPr>
        <p:spPr>
          <a:xfrm>
            <a:off x="9188871" y="4965192"/>
            <a:ext cx="16403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effective_from after to</a:t>
            </a:r>
            <a:endParaRPr lang="en-US" sz="760" dirty="0"/>
          </a:p>
        </p:txBody>
      </p:sp>
      <p:sp>
        <p:nvSpPr>
          <p:cNvPr id="94" name="Shape 92"/>
          <p:cNvSpPr/>
          <p:nvPr/>
        </p:nvSpPr>
        <p:spPr>
          <a:xfrm>
            <a:off x="10810973" y="5029200"/>
            <a:ext cx="673891" cy="219456"/>
          </a:xfrm>
          <a:prstGeom prst="roundRect">
            <a:avLst>
              <a:gd name="adj" fmla="val 50000"/>
            </a:avLst>
          </a:prstGeom>
          <a:solidFill>
            <a:srgbClr val="FBE7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5" name="Text 93"/>
          <p:cNvSpPr/>
          <p:nvPr/>
        </p:nvSpPr>
        <p:spPr>
          <a:xfrm>
            <a:off x="10810973" y="5024628"/>
            <a:ext cx="6738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D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7001378" y="5422392"/>
            <a:ext cx="2187186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2F559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7001378" y="5422392"/>
            <a:ext cx="2187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error file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370830" y="5422392"/>
            <a:ext cx="2187186" cy="365760"/>
          </a:xfrm>
          <a:prstGeom prst="roundRect">
            <a:avLst>
              <a:gd name="adj" fmla="val 17500"/>
            </a:avLst>
          </a:prstGeom>
          <a:solidFill>
            <a:srgbClr val="C9A227"/>
          </a:solidFill>
          <a:ln/>
          <a:effectLst>
            <a:outerShdw blurRad="63500" dist="25400" dir="5400000" algn="bl" rotWithShape="0">
              <a:srgbClr val="0E1B34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9" name="Text 97"/>
          <p:cNvSpPr/>
          <p:nvPr/>
        </p:nvSpPr>
        <p:spPr>
          <a:xfrm>
            <a:off x="9370830" y="5422392"/>
            <a:ext cx="2187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import (1,259)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1" name="Text 99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11.1–11.4 Bulk Import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upload with a staged validation report that must clear before structural changes are committed.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12 · ADMINISTRATION</a:t>
            </a: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754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administration &amp; governance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696651" y="457200"/>
            <a:ext cx="928116" cy="329184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96651" y="457200"/>
            <a:ext cx="928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6455664"/>
            <a:ext cx="11057839" cy="0"/>
          </a:xfrm>
          <a:prstGeom prst="line">
            <a:avLst/>
          </a:prstGeom>
          <a:noFill/>
          <a:ln w="12700">
            <a:solidFill>
              <a:srgbClr val="C9D3E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7295" y="649224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0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Office control room: manage roles and delegations, inspect immutable audit logs, run the export centre, publish to SharePoint and maintain reference data.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0" dirty="0">
                <a:solidFill>
                  <a:srgbClr val="1C3A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816352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12.1–12.2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2144" y="279806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&amp; Delegations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" y="299923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roles; temporary exception delegations.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12.3–12.4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" y="3419856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Logs &amp; Export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" y="36210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 and the export centre.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4059936"/>
            <a:ext cx="475488" cy="274320"/>
          </a:xfrm>
          <a:prstGeom prst="roundRect">
            <a:avLst>
              <a:gd name="adj" fmla="val 16667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66928" y="40599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12.5–12.6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" y="404164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Publishing &amp; Reference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" y="42428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3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publish and seed data.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611880" y="1325880"/>
            <a:ext cx="8001000" cy="4526280"/>
          </a:xfrm>
          <a:prstGeom prst="roundRect">
            <a:avLst>
              <a:gd name="adj" fmla="val 1818"/>
            </a:avLst>
          </a:prstGeom>
          <a:solidFill>
            <a:srgbClr val="0E1B34"/>
          </a:solidFill>
          <a:ln/>
          <a:effectLst>
            <a:outerShdw blurRad="177800" dist="63500" dir="5400000" algn="bl" rotWithShape="0">
              <a:srgbClr val="0E1B34">
                <a:alpha val="2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758184" y="1435608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895344" y="1435608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4032504" y="1435608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1403604"/>
            <a:ext cx="6629400" cy="155448"/>
          </a:xfrm>
          <a:prstGeom prst="roundRect">
            <a:avLst>
              <a:gd name="adj" fmla="val 50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398264" y="1380744"/>
            <a:ext cx="6537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7C7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app.church.finance/admin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66744" y="1636776"/>
            <a:ext cx="7891272" cy="4160520"/>
          </a:xfrm>
          <a:prstGeom prst="rect">
            <a:avLst/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3886200" y="1801368"/>
            <a:ext cx="2301240" cy="3337560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3886200" y="1801368"/>
            <a:ext cx="2301240" cy="402336"/>
          </a:xfrm>
          <a:prstGeom prst="roundRect">
            <a:avLst>
              <a:gd name="adj" fmla="val 18182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3886200" y="2093976"/>
            <a:ext cx="2301240" cy="109728"/>
          </a:xfrm>
          <a:prstGeom prst="rect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4032504" y="1801368"/>
            <a:ext cx="2026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  Role Management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14216" y="2331720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4014216" y="2331720"/>
            <a:ext cx="45720" cy="51206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142232" y="238658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Khumalo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42232" y="258775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Office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14216" y="2935224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4014216" y="2935224"/>
            <a:ext cx="45720" cy="5120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142232" y="29900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Mokoena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42232" y="319125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14216" y="3538728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4014216" y="3538728"/>
            <a:ext cx="45720" cy="5120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4142232" y="359359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Dlamini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42232" y="3794760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014216" y="4142232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4014216" y="4142232"/>
            <a:ext cx="45720" cy="5120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4142232" y="419709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Nkosi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42232" y="439826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032504" y="5193792"/>
            <a:ext cx="202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i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assign roles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61760" y="1801368"/>
            <a:ext cx="2301240" cy="3337560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6461760" y="1801368"/>
            <a:ext cx="2301240" cy="402336"/>
          </a:xfrm>
          <a:prstGeom prst="roundRect">
            <a:avLst>
              <a:gd name="adj" fmla="val 18182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Shape 52"/>
          <p:cNvSpPr/>
          <p:nvPr/>
        </p:nvSpPr>
        <p:spPr>
          <a:xfrm>
            <a:off x="6461760" y="2093976"/>
            <a:ext cx="2301240" cy="109728"/>
          </a:xfrm>
          <a:prstGeom prst="rect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6608064" y="1801368"/>
            <a:ext cx="2026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12.3  Audit Logs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89776" y="2331720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Shape 55"/>
          <p:cNvSpPr/>
          <p:nvPr/>
        </p:nvSpPr>
        <p:spPr>
          <a:xfrm>
            <a:off x="6589776" y="2331720"/>
            <a:ext cx="45720" cy="512064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6717792" y="238658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submitted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17792" y="258775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· 09:12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589776" y="2935224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Shape 59"/>
          <p:cNvSpPr/>
          <p:nvPr/>
        </p:nvSpPr>
        <p:spPr>
          <a:xfrm>
            <a:off x="6589776" y="2935224"/>
            <a:ext cx="45720" cy="512064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Text 60"/>
          <p:cNvSpPr/>
          <p:nvPr/>
        </p:nvSpPr>
        <p:spPr>
          <a:xfrm>
            <a:off x="6717792" y="29900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reopened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717792" y="319125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· reason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589776" y="3538728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Shape 63"/>
          <p:cNvSpPr/>
          <p:nvPr/>
        </p:nvSpPr>
        <p:spPr>
          <a:xfrm>
            <a:off x="6589776" y="3538728"/>
            <a:ext cx="45720" cy="51206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Text 64"/>
          <p:cNvSpPr/>
          <p:nvPr/>
        </p:nvSpPr>
        <p:spPr>
          <a:xfrm>
            <a:off x="6717792" y="359359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delegated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717792" y="3794760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exception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589776" y="4142232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6589776" y="4142232"/>
            <a:ext cx="45720" cy="51206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Text 68"/>
          <p:cNvSpPr/>
          <p:nvPr/>
        </p:nvSpPr>
        <p:spPr>
          <a:xfrm>
            <a:off x="6717792" y="419709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committed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717792" y="439826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#0294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608064" y="5193792"/>
            <a:ext cx="202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i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exportable trail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9037320" y="1801368"/>
            <a:ext cx="2301240" cy="3337560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4" name="Shape 72"/>
          <p:cNvSpPr/>
          <p:nvPr/>
        </p:nvSpPr>
        <p:spPr>
          <a:xfrm>
            <a:off x="9037320" y="1801368"/>
            <a:ext cx="2301240" cy="402336"/>
          </a:xfrm>
          <a:prstGeom prst="roundRect">
            <a:avLst>
              <a:gd name="adj" fmla="val 18182"/>
            </a:avLst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9037320" y="2093976"/>
            <a:ext cx="2301240" cy="109728"/>
          </a:xfrm>
          <a:prstGeom prst="rect">
            <a:avLst/>
          </a:prstGeom>
          <a:solidFill>
            <a:srgbClr val="0E1B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9183624" y="1801368"/>
            <a:ext cx="2026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12.4  Export Centre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165336" y="2331720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Shape 76"/>
          <p:cNvSpPr/>
          <p:nvPr/>
        </p:nvSpPr>
        <p:spPr>
          <a:xfrm>
            <a:off x="9165336" y="2331720"/>
            <a:ext cx="45720" cy="512064"/>
          </a:xfrm>
          <a:prstGeom prst="rect">
            <a:avLst/>
          </a:prstGeom>
          <a:solidFill>
            <a:srgbClr val="D045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7"/>
          <p:cNvSpPr/>
          <p:nvPr/>
        </p:nvSpPr>
        <p:spPr>
          <a:xfrm>
            <a:off x="9293352" y="238658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· July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9293352" y="258775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165336" y="2935224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9165336" y="2935224"/>
            <a:ext cx="45720" cy="512064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Text 81"/>
          <p:cNvSpPr/>
          <p:nvPr/>
        </p:nvSpPr>
        <p:spPr>
          <a:xfrm>
            <a:off x="9293352" y="2990088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Overseership set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293352" y="319125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165336" y="3538728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Shape 84"/>
          <p:cNvSpPr/>
          <p:nvPr/>
        </p:nvSpPr>
        <p:spPr>
          <a:xfrm>
            <a:off x="9165336" y="3538728"/>
            <a:ext cx="45720" cy="512064"/>
          </a:xfrm>
          <a:prstGeom prst="rect">
            <a:avLst/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Text 85"/>
          <p:cNvSpPr/>
          <p:nvPr/>
        </p:nvSpPr>
        <p:spPr>
          <a:xfrm>
            <a:off x="9293352" y="3593592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Congregation pack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9293352" y="3794760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9165336" y="4142232"/>
            <a:ext cx="2045208" cy="512064"/>
          </a:xfrm>
          <a:prstGeom prst="roundRect">
            <a:avLst>
              <a:gd name="adj" fmla="val 8929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Shape 88"/>
          <p:cNvSpPr/>
          <p:nvPr/>
        </p:nvSpPr>
        <p:spPr>
          <a:xfrm>
            <a:off x="9165336" y="4142232"/>
            <a:ext cx="45720" cy="5120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Text 89"/>
          <p:cNvSpPr/>
          <p:nvPr/>
        </p:nvSpPr>
        <p:spPr>
          <a:xfrm>
            <a:off x="9293352" y="4197096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pack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293352" y="4398264"/>
            <a:ext cx="184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9183624" y="5193792"/>
            <a:ext cx="202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i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permissions</a:t>
            </a:r>
            <a:endParaRPr lang="en-US" sz="720" dirty="0"/>
          </a:p>
        </p:txBody>
      </p:sp>
      <p:sp>
        <p:nvSpPr>
          <p:cNvPr id="94" name="Text 92"/>
          <p:cNvSpPr/>
          <p:nvPr/>
        </p:nvSpPr>
        <p:spPr>
          <a:xfrm>
            <a:off x="3886200" y="5413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  Reference data: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541264" y="5431536"/>
            <a:ext cx="956462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6" name="Text 94"/>
          <p:cNvSpPr/>
          <p:nvPr/>
        </p:nvSpPr>
        <p:spPr>
          <a:xfrm>
            <a:off x="5541264" y="5426964"/>
            <a:ext cx="956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types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607454" y="5431536"/>
            <a:ext cx="672998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8" name="Text 96"/>
          <p:cNvSpPr/>
          <p:nvPr/>
        </p:nvSpPr>
        <p:spPr>
          <a:xfrm>
            <a:off x="6607454" y="5426964"/>
            <a:ext cx="672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390181" y="5431536"/>
            <a:ext cx="1013155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0" name="Text 98"/>
          <p:cNvSpPr/>
          <p:nvPr/>
        </p:nvSpPr>
        <p:spPr>
          <a:xfrm>
            <a:off x="7390181" y="5426964"/>
            <a:ext cx="10131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513064" y="5431536"/>
            <a:ext cx="956462" cy="219456"/>
          </a:xfrm>
          <a:prstGeom prst="roundRect">
            <a:avLst>
              <a:gd name="adj" fmla="val 50000"/>
            </a:avLst>
          </a:prstGeom>
          <a:solidFill>
            <a:srgbClr val="E7EE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2" name="Text 100"/>
          <p:cNvSpPr/>
          <p:nvPr/>
        </p:nvSpPr>
        <p:spPr>
          <a:xfrm>
            <a:off x="8513064" y="5426964"/>
            <a:ext cx="956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44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types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611880" y="5943600"/>
            <a:ext cx="630936" cy="237744"/>
          </a:xfrm>
          <a:prstGeom prst="roundRect">
            <a:avLst>
              <a:gd name="adj" fmla="val 50000"/>
            </a:avLst>
          </a:prstGeom>
          <a:solidFill>
            <a:srgbClr val="24487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3611880" y="5939028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370832" y="5925312"/>
            <a:ext cx="7104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12.1–12.6 Administration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3611880" y="625449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5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immutable audit logs and the export/publish centre in one Head Office console.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468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design proposal to build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132548"/>
          </a:solidFill>
          <a:ln w="12700">
            <a:solidFill>
              <a:srgbClr val="24487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PROPOSAL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27889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280160" y="2697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screen designs for all 12 modules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3392424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1280160" y="3300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framing matched to each role's real usage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399592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navy &amp; gold system with clear status vocabulary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459943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280160" y="45079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made visible: capture → reconcile → audit → close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" y="5202936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280160" y="5111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capture and desktop oversight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5166360" cy="3657600"/>
          </a:xfrm>
          <a:prstGeom prst="roundRect">
            <a:avLst>
              <a:gd name="adj" fmla="val 3000"/>
            </a:avLst>
          </a:prstGeom>
          <a:solidFill>
            <a:srgbClr val="1C3A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E7C7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TO CONFIRM WITH YOU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743200"/>
            <a:ext cx="4709160" cy="530352"/>
          </a:xfrm>
          <a:prstGeom prst="roundRect">
            <a:avLst>
              <a:gd name="adj" fmla="val 12069"/>
            </a:avLst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537960" y="288036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53796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03720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9992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logo, exact colours &amp; PDF letterhead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3364992"/>
            <a:ext cx="4709160" cy="530352"/>
          </a:xfrm>
          <a:prstGeom prst="roundRect">
            <a:avLst>
              <a:gd name="adj" fmla="val 12069"/>
            </a:avLst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537960" y="3502152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53796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03720" y="3419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Apostle dashboard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03720" y="36210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for phase 1, or later?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3986784"/>
            <a:ext cx="4709160" cy="530352"/>
          </a:xfrm>
          <a:prstGeom prst="roundRect">
            <a:avLst>
              <a:gd name="adj" fmla="val 12069"/>
            </a:avLst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6537960" y="412394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65379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0372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SharePoint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03720" y="4242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export, automated publishing, or both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4608576"/>
            <a:ext cx="4709160" cy="530352"/>
          </a:xfrm>
          <a:prstGeom prst="roundRect">
            <a:avLst>
              <a:gd name="adj" fmla="val 12069"/>
            </a:avLst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6537960" y="4745736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6537960" y="4736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0372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templates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4864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congregation / user / officer columns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0" y="5230368"/>
            <a:ext cx="4709160" cy="530352"/>
          </a:xfrm>
          <a:prstGeom prst="roundRect">
            <a:avLst>
              <a:gd name="adj" fmla="val 12069"/>
            </a:avLst>
          </a:prstGeom>
          <a:solidFill>
            <a:srgbClr val="13254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6537960" y="5367528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537960" y="5358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5285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capture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03720" y="5486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at launch or a later enhancement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Financial Management System  ·  Application Design Proposal  ·  Draft v1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3426</Words>
  <Application>Microsoft Office PowerPoint</Application>
  <PresentationFormat>Widescreen</PresentationFormat>
  <Paragraphs>1098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Church Financial Management System</vt:lpstr>
      <vt:lpstr>Principles, palette &amp; the interface system</vt:lpstr>
      <vt:lpstr>Organisation hierarchy, roles &amp; their devices</vt:lpstr>
      <vt:lpstr>The 12 modules at a glance</vt:lpstr>
      <vt:lpstr>Role-based landing — mobile</vt:lpstr>
      <vt:lpstr>Role-based landing — desktop oversight</vt:lpstr>
      <vt:lpstr>The Treasurer's main working area</vt:lpstr>
      <vt:lpstr>Capturing supporting evidence</vt:lpstr>
      <vt:lpstr>Monthly expenditure — capture &amp; approval</vt:lpstr>
      <vt:lpstr>Balance the week before audit</vt:lpstr>
      <vt:lpstr>The independent auditor's workspace</vt:lpstr>
      <vt:lpstr>Elder month-end review &amp; submission</vt:lpstr>
      <vt:lpstr>Head Office unlock &amp; resubmit flow</vt:lpstr>
      <vt:lpstr>Head Office &amp; internal congregation chat</vt:lpstr>
      <vt:lpstr>Hierarchy dashboards &amp; drill-down</vt:lpstr>
      <vt:lpstr>Head Office bulk onboarding</vt:lpstr>
      <vt:lpstr>System administration &amp; governance</vt:lpstr>
      <vt:lpstr>From design proposal to build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Jermaine Morris</dc:creator>
  <cp:lastModifiedBy>Jermaine Morris</cp:lastModifiedBy>
  <cp:revision>1</cp:revision>
  <dcterms:created xsi:type="dcterms:W3CDTF">2026-07-05T18:24:55Z</dcterms:created>
  <dcterms:modified xsi:type="dcterms:W3CDTF">2026-07-05T19:34:46Z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8c3ec93-a456-402f-b52c-07a6894e9375_Enabled">
    <vt:lpwstr>true</vt:lpwstr>
  </property>
  <property fmtid="{D5CDD505-2E9C-101B-9397-08002B2CF9AE}" pid="3" name="MSIP_Label_18c3ec93-a456-402f-b52c-07a6894e9375_SetDate">
    <vt:lpwstr>2026-07-05T18:24:55Z</vt:lpwstr>
  </property>
  <property fmtid="{D5CDD505-2E9C-101B-9397-08002B2CF9AE}" pid="4" name="MSIP_Label_18c3ec93-a456-402f-b52c-07a6894e9375_Method">
    <vt:lpwstr>Standard</vt:lpwstr>
  </property>
  <property fmtid="{D5CDD505-2E9C-101B-9397-08002B2CF9AE}" pid="5" name="MSIP_Label_18c3ec93-a456-402f-b52c-07a6894e9375_Name">
    <vt:lpwstr>defa4170-0d19-0005-0002-bc88714345d2</vt:lpwstr>
  </property>
  <property fmtid="{D5CDD505-2E9C-101B-9397-08002B2CF9AE}" pid="6" name="MSIP_Label_18c3ec93-a456-402f-b52c-07a6894e9375_SiteId">
    <vt:lpwstr>bad53a93-c496-4f11-a2fe-e30a3f3a055c</vt:lpwstr>
  </property>
  <property fmtid="{D5CDD505-2E9C-101B-9397-08002B2CF9AE}" pid="7" name="MSIP_Label_18c3ec93-a456-402f-b52c-07a6894e9375_ActionId">
    <vt:lpwstr>b7378cc6-de7d-4a87-8470-6426435c98e1</vt:lpwstr>
  </property>
  <property fmtid="{D5CDD505-2E9C-101B-9397-08002B2CF9AE}" pid="8" name="MSIP_Label_18c3ec93-a456-402f-b52c-07a6894e9375_ContentBits">
    <vt:lpwstr>0</vt:lpwstr>
  </property>
  <property fmtid="{D5CDD505-2E9C-101B-9397-08002B2CF9AE}" pid="9" name="MSIP_Label_18c3ec93-a456-402f-b52c-07a6894e9375_Tag">
    <vt:lpwstr>10, 1, 2, 1</vt:lpwstr>
  </property>
</Properties>
</file>